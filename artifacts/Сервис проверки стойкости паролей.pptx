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5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Liter" panose="020B0604020202020204" charset="0"/>
      <p:regular r:id="rId11"/>
    </p:embeddedFont>
    <p:embeddedFont>
      <p:font typeface="Quattrocento Sans" panose="020B0502050000020003" pitchFamily="34" charset="0"/>
      <p:regular r:id="rId12"/>
      <p:bold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24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eaf61fa298af8b123488d59efd082c871a1e523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1117">
                  <a:alpha val="90000"/>
                </a:srgbClr>
              </a:gs>
              <a:gs pos="50000">
                <a:srgbClr val="0D1117">
                  <a:alpha val="70000"/>
                </a:srgbClr>
              </a:gs>
              <a:gs pos="100000">
                <a:srgbClr val="0D1117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9742170" y="6351746"/>
            <a:ext cx="2265045" cy="350520"/>
          </a:xfrm>
          <a:custGeom>
            <a:avLst/>
            <a:gdLst/>
            <a:ahLst/>
            <a:cxnLst/>
            <a:rect l="l" t="t" r="r" b="b"/>
            <a:pathLst>
              <a:path w="2265045" h="350520">
                <a:moveTo>
                  <a:pt x="76200" y="0"/>
                </a:moveTo>
                <a:lnTo>
                  <a:pt x="2188845" y="0"/>
                </a:lnTo>
                <a:cubicBezTo>
                  <a:pt x="2230929" y="0"/>
                  <a:pt x="2265045" y="34116"/>
                  <a:pt x="2265045" y="76200"/>
                </a:cubicBezTo>
                <a:lnTo>
                  <a:pt x="2265045" y="274320"/>
                </a:lnTo>
                <a:cubicBezTo>
                  <a:pt x="2265045" y="316404"/>
                  <a:pt x="2230929" y="350520"/>
                  <a:pt x="2188845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5080" y="6431756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b="1" kern="0" spc="26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Проектный практикум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967740"/>
            <a:ext cx="117157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Сервис проверки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стойкости паролей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 их присутствия в базах утечек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339465"/>
            <a:ext cx="64960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C9D1D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Инструмент для оценки безопасности паролей и выявления скомпрометированных учётных данных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105275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21262D"/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4337685"/>
            <a:ext cx="562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Команда проекта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469963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77441" y="478536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" y="4642485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Ошев Кирилл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0100" y="4871085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Lead / PM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1000" y="519493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77441" y="528066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00" y="5137785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Петросян Тигран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0100" y="5366385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Backend-разработчик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1000" y="569023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0883E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77441" y="577596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21" name="Text 18"/>
          <p:cNvSpPr/>
          <p:nvPr/>
        </p:nvSpPr>
        <p:spPr>
          <a:xfrm>
            <a:off x="800100" y="563308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Бармин Егор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0100" y="586168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Frontend-разработчик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1000" y="618553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85149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77441" y="627126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25" name="Text 22"/>
          <p:cNvSpPr/>
          <p:nvPr/>
        </p:nvSpPr>
        <p:spPr>
          <a:xfrm>
            <a:off x="800100" y="6128385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Кадиева Диана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0100" y="6356985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 / Тестировщик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167342" y="5690235"/>
            <a:ext cx="16478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10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</a:t>
            </a:r>
            <a:r>
              <a:rPr lang="ru-RU" sz="10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568940" y="6064567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Год разработки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514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81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851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Актуальность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71500"/>
            <a:ext cx="5438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 безопасности паролей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99210"/>
            <a:ext cx="3646170" cy="4398645"/>
          </a:xfrm>
          <a:custGeom>
            <a:avLst/>
            <a:gdLst/>
            <a:ahLst/>
            <a:cxnLst/>
            <a:rect l="l" t="t" r="r" b="b"/>
            <a:pathLst>
              <a:path w="3646170" h="4398645">
                <a:moveTo>
                  <a:pt x="114307" y="0"/>
                </a:moveTo>
                <a:lnTo>
                  <a:pt x="3531863" y="0"/>
                </a:lnTo>
                <a:cubicBezTo>
                  <a:pt x="3594993" y="0"/>
                  <a:pt x="3646170" y="51177"/>
                  <a:pt x="3646170" y="114307"/>
                </a:cubicBezTo>
                <a:lnTo>
                  <a:pt x="3646170" y="4284338"/>
                </a:lnTo>
                <a:cubicBezTo>
                  <a:pt x="3646170" y="4347468"/>
                  <a:pt x="3594993" y="4398645"/>
                  <a:pt x="3531863" y="4398645"/>
                </a:cubicBezTo>
                <a:lnTo>
                  <a:pt x="114307" y="4398645"/>
                </a:lnTo>
                <a:cubicBezTo>
                  <a:pt x="51177" y="4398645"/>
                  <a:pt x="0" y="4347468"/>
                  <a:pt x="0" y="428433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F85149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8630" y="2141220"/>
            <a:ext cx="1581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2599" y="2979420"/>
            <a:ext cx="283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Взломов из-за слабых паролей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3360420"/>
            <a:ext cx="325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Подавляющее большинство успешных кибератак происходит именно из-за использования простых, легко угадываемых паролей пользователями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" y="5116830"/>
            <a:ext cx="3181350" cy="7620"/>
          </a:xfrm>
          <a:custGeom>
            <a:avLst/>
            <a:gdLst/>
            <a:ahLst/>
            <a:cxnLst/>
            <a:rect l="l" t="t" r="r" b="b"/>
            <a:pathLst>
              <a:path w="3181350" h="7620">
                <a:moveTo>
                  <a:pt x="0" y="0"/>
                </a:moveTo>
                <a:lnTo>
                  <a:pt x="3181350" y="0"/>
                </a:lnTo>
                <a:lnTo>
                  <a:pt x="31813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85149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6270" y="530161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12" name="Text 10"/>
          <p:cNvSpPr/>
          <p:nvPr/>
        </p:nvSpPr>
        <p:spPr>
          <a:xfrm>
            <a:off x="860108" y="5273040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51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 данным Verizon DBIR 2024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1010" y="1299210"/>
            <a:ext cx="3646170" cy="4398645"/>
          </a:xfrm>
          <a:custGeom>
            <a:avLst/>
            <a:gdLst/>
            <a:ahLst/>
            <a:cxnLst/>
            <a:rect l="l" t="t" r="r" b="b"/>
            <a:pathLst>
              <a:path w="3646170" h="4398645">
                <a:moveTo>
                  <a:pt x="114307" y="0"/>
                </a:moveTo>
                <a:lnTo>
                  <a:pt x="3531863" y="0"/>
                </a:lnTo>
                <a:cubicBezTo>
                  <a:pt x="3594993" y="0"/>
                  <a:pt x="3646170" y="51177"/>
                  <a:pt x="3646170" y="114307"/>
                </a:cubicBezTo>
                <a:lnTo>
                  <a:pt x="3646170" y="4284338"/>
                </a:lnTo>
                <a:cubicBezTo>
                  <a:pt x="3646170" y="4347468"/>
                  <a:pt x="3594993" y="4398645"/>
                  <a:pt x="3531863" y="4398645"/>
                </a:cubicBezTo>
                <a:lnTo>
                  <a:pt x="114307" y="4398645"/>
                </a:lnTo>
                <a:cubicBezTo>
                  <a:pt x="51177" y="4398645"/>
                  <a:pt x="0" y="4347468"/>
                  <a:pt x="0" y="428433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F0883E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45969" y="2198370"/>
            <a:ext cx="500063" cy="571500"/>
          </a:xfrm>
          <a:custGeom>
            <a:avLst/>
            <a:gdLst/>
            <a:ahLst/>
            <a:cxnLst/>
            <a:rect l="l" t="t" r="r" b="b"/>
            <a:pathLst>
              <a:path w="500063" h="571500">
                <a:moveTo>
                  <a:pt x="500063" y="229716"/>
                </a:moveTo>
                <a:cubicBezTo>
                  <a:pt x="483543" y="240655"/>
                  <a:pt x="464567" y="249473"/>
                  <a:pt x="444810" y="256505"/>
                </a:cubicBezTo>
                <a:cubicBezTo>
                  <a:pt x="392348" y="275258"/>
                  <a:pt x="323478" y="285750"/>
                  <a:pt x="250031" y="285750"/>
                </a:cubicBezTo>
                <a:cubicBezTo>
                  <a:pt x="176585" y="285750"/>
                  <a:pt x="107603" y="275146"/>
                  <a:pt x="55252" y="256505"/>
                </a:cubicBezTo>
                <a:cubicBezTo>
                  <a:pt x="35607" y="249473"/>
                  <a:pt x="16520" y="240655"/>
                  <a:pt x="0" y="229716"/>
                </a:cubicBezTo>
                <a:lnTo>
                  <a:pt x="0" y="321469"/>
                </a:lnTo>
                <a:cubicBezTo>
                  <a:pt x="0" y="370805"/>
                  <a:pt x="111956" y="410766"/>
                  <a:pt x="250031" y="410766"/>
                </a:cubicBezTo>
                <a:cubicBezTo>
                  <a:pt x="388107" y="410766"/>
                  <a:pt x="500063" y="370805"/>
                  <a:pt x="500063" y="321469"/>
                </a:cubicBezTo>
                <a:lnTo>
                  <a:pt x="500063" y="229716"/>
                </a:lnTo>
                <a:close/>
                <a:moveTo>
                  <a:pt x="500063" y="142875"/>
                </a:moveTo>
                <a:lnTo>
                  <a:pt x="500063" y="89297"/>
                </a:lnTo>
                <a:cubicBezTo>
                  <a:pt x="500063" y="39960"/>
                  <a:pt x="388107" y="0"/>
                  <a:pt x="250031" y="0"/>
                </a:cubicBezTo>
                <a:cubicBezTo>
                  <a:pt x="111956" y="0"/>
                  <a:pt x="0" y="39960"/>
                  <a:pt x="0" y="89297"/>
                </a:cubicBezTo>
                <a:lnTo>
                  <a:pt x="0" y="142875"/>
                </a:lnTo>
                <a:cubicBezTo>
                  <a:pt x="0" y="192212"/>
                  <a:pt x="111956" y="232172"/>
                  <a:pt x="250031" y="232172"/>
                </a:cubicBezTo>
                <a:cubicBezTo>
                  <a:pt x="388107" y="232172"/>
                  <a:pt x="500063" y="192212"/>
                  <a:pt x="500063" y="142875"/>
                </a:cubicBezTo>
                <a:close/>
                <a:moveTo>
                  <a:pt x="444810" y="435099"/>
                </a:moveTo>
                <a:cubicBezTo>
                  <a:pt x="392460" y="453740"/>
                  <a:pt x="323590" y="464344"/>
                  <a:pt x="250031" y="464344"/>
                </a:cubicBezTo>
                <a:cubicBezTo>
                  <a:pt x="176473" y="464344"/>
                  <a:pt x="107603" y="453740"/>
                  <a:pt x="55252" y="435099"/>
                </a:cubicBezTo>
                <a:cubicBezTo>
                  <a:pt x="35607" y="428067"/>
                  <a:pt x="16520" y="419249"/>
                  <a:pt x="0" y="408310"/>
                </a:cubicBezTo>
                <a:lnTo>
                  <a:pt x="0" y="482203"/>
                </a:lnTo>
                <a:cubicBezTo>
                  <a:pt x="0" y="531540"/>
                  <a:pt x="111956" y="571500"/>
                  <a:pt x="250031" y="571500"/>
                </a:cubicBezTo>
                <a:cubicBezTo>
                  <a:pt x="388107" y="571500"/>
                  <a:pt x="500063" y="531540"/>
                  <a:pt x="500063" y="482203"/>
                </a:cubicBezTo>
                <a:lnTo>
                  <a:pt x="500063" y="408310"/>
                </a:lnTo>
                <a:cubicBezTo>
                  <a:pt x="483543" y="419249"/>
                  <a:pt x="464567" y="428067"/>
                  <a:pt x="444810" y="435099"/>
                </a:cubicBez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4835723" y="292227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Ежедневные утечки данных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65320" y="3303270"/>
            <a:ext cx="325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Каждый день происходят массовые утечки баз данных с миллионами скомпрометированных учётных записей, которые попадают в открытый доступ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03420" y="5116830"/>
            <a:ext cx="3181350" cy="7620"/>
          </a:xfrm>
          <a:custGeom>
            <a:avLst/>
            <a:gdLst/>
            <a:ahLst/>
            <a:cxnLst/>
            <a:rect l="l" t="t" r="r" b="b"/>
            <a:pathLst>
              <a:path w="3181350" h="7620">
                <a:moveTo>
                  <a:pt x="0" y="0"/>
                </a:moveTo>
                <a:lnTo>
                  <a:pt x="3181350" y="0"/>
                </a:lnTo>
                <a:lnTo>
                  <a:pt x="31813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0883E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157210" y="1299210"/>
            <a:ext cx="3646170" cy="4398645"/>
          </a:xfrm>
          <a:custGeom>
            <a:avLst/>
            <a:gdLst/>
            <a:ahLst/>
            <a:cxnLst/>
            <a:rect l="l" t="t" r="r" b="b"/>
            <a:pathLst>
              <a:path w="3646170" h="4398645">
                <a:moveTo>
                  <a:pt x="114307" y="0"/>
                </a:moveTo>
                <a:lnTo>
                  <a:pt x="3531863" y="0"/>
                </a:lnTo>
                <a:cubicBezTo>
                  <a:pt x="3594993" y="0"/>
                  <a:pt x="3646170" y="51177"/>
                  <a:pt x="3646170" y="114307"/>
                </a:cubicBezTo>
                <a:lnTo>
                  <a:pt x="3646170" y="4284338"/>
                </a:lnTo>
                <a:cubicBezTo>
                  <a:pt x="3646170" y="4347468"/>
                  <a:pt x="3594993" y="4398645"/>
                  <a:pt x="3531863" y="4398645"/>
                </a:cubicBezTo>
                <a:lnTo>
                  <a:pt x="114307" y="4398645"/>
                </a:lnTo>
                <a:cubicBezTo>
                  <a:pt x="51177" y="4398645"/>
                  <a:pt x="0" y="4347468"/>
                  <a:pt x="0" y="428433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60731" y="2198370"/>
            <a:ext cx="642938" cy="571500"/>
          </a:xfrm>
          <a:custGeom>
            <a:avLst/>
            <a:gdLst/>
            <a:ahLst/>
            <a:cxnLst/>
            <a:rect l="l" t="t" r="r" b="b"/>
            <a:pathLst>
              <a:path w="642938" h="571500">
                <a:moveTo>
                  <a:pt x="250031" y="276820"/>
                </a:moveTo>
                <a:cubicBezTo>
                  <a:pt x="323958" y="276820"/>
                  <a:pt x="383977" y="216801"/>
                  <a:pt x="383977" y="142875"/>
                </a:cubicBezTo>
                <a:cubicBezTo>
                  <a:pt x="383977" y="68949"/>
                  <a:pt x="323958" y="8930"/>
                  <a:pt x="250031" y="8930"/>
                </a:cubicBezTo>
                <a:cubicBezTo>
                  <a:pt x="176105" y="8930"/>
                  <a:pt x="116086" y="68949"/>
                  <a:pt x="116086" y="142875"/>
                </a:cubicBezTo>
                <a:cubicBezTo>
                  <a:pt x="116086" y="216801"/>
                  <a:pt x="176105" y="276820"/>
                  <a:pt x="250031" y="276820"/>
                </a:cubicBezTo>
                <a:close/>
                <a:moveTo>
                  <a:pt x="216880" y="339328"/>
                </a:moveTo>
                <a:cubicBezTo>
                  <a:pt x="106933" y="339328"/>
                  <a:pt x="17859" y="428402"/>
                  <a:pt x="17859" y="538349"/>
                </a:cubicBezTo>
                <a:cubicBezTo>
                  <a:pt x="17859" y="556654"/>
                  <a:pt x="32705" y="571500"/>
                  <a:pt x="51011" y="571500"/>
                </a:cubicBezTo>
                <a:lnTo>
                  <a:pt x="331738" y="571500"/>
                </a:lnTo>
                <a:cubicBezTo>
                  <a:pt x="291331" y="523949"/>
                  <a:pt x="267891" y="462669"/>
                  <a:pt x="267891" y="397818"/>
                </a:cubicBezTo>
                <a:lnTo>
                  <a:pt x="267891" y="363103"/>
                </a:lnTo>
                <a:cubicBezTo>
                  <a:pt x="267891" y="354955"/>
                  <a:pt x="269007" y="346918"/>
                  <a:pt x="271128" y="339328"/>
                </a:cubicBezTo>
                <a:lnTo>
                  <a:pt x="216880" y="339328"/>
                </a:lnTo>
                <a:close/>
                <a:moveTo>
                  <a:pt x="497049" y="545269"/>
                </a:moveTo>
                <a:lnTo>
                  <a:pt x="482203" y="552301"/>
                </a:lnTo>
                <a:lnTo>
                  <a:pt x="482203" y="342342"/>
                </a:lnTo>
                <a:lnTo>
                  <a:pt x="589359" y="378061"/>
                </a:lnTo>
                <a:lnTo>
                  <a:pt x="589359" y="399938"/>
                </a:lnTo>
                <a:cubicBezTo>
                  <a:pt x="589359" y="462223"/>
                  <a:pt x="553417" y="518815"/>
                  <a:pt x="497049" y="545381"/>
                </a:cubicBezTo>
                <a:close/>
                <a:moveTo>
                  <a:pt x="470929" y="289657"/>
                </a:moveTo>
                <a:lnTo>
                  <a:pt x="345914" y="331291"/>
                </a:lnTo>
                <a:cubicBezTo>
                  <a:pt x="331291" y="336203"/>
                  <a:pt x="321469" y="349821"/>
                  <a:pt x="321469" y="365224"/>
                </a:cubicBezTo>
                <a:lnTo>
                  <a:pt x="321469" y="399938"/>
                </a:lnTo>
                <a:cubicBezTo>
                  <a:pt x="321469" y="482984"/>
                  <a:pt x="369466" y="558552"/>
                  <a:pt x="444475" y="593824"/>
                </a:cubicBezTo>
                <a:lnTo>
                  <a:pt x="465125" y="603535"/>
                </a:lnTo>
                <a:cubicBezTo>
                  <a:pt x="470483" y="605991"/>
                  <a:pt x="476287" y="607330"/>
                  <a:pt x="482092" y="607330"/>
                </a:cubicBezTo>
                <a:cubicBezTo>
                  <a:pt x="487896" y="607330"/>
                  <a:pt x="493812" y="605991"/>
                  <a:pt x="499058" y="603535"/>
                </a:cubicBezTo>
                <a:lnTo>
                  <a:pt x="519708" y="593824"/>
                </a:lnTo>
                <a:cubicBezTo>
                  <a:pt x="594940" y="558440"/>
                  <a:pt x="642938" y="482873"/>
                  <a:pt x="642938" y="399827"/>
                </a:cubicBezTo>
                <a:lnTo>
                  <a:pt x="642938" y="365113"/>
                </a:lnTo>
                <a:cubicBezTo>
                  <a:pt x="642938" y="349709"/>
                  <a:pt x="633115" y="336091"/>
                  <a:pt x="618492" y="331180"/>
                </a:cubicBezTo>
                <a:lnTo>
                  <a:pt x="493477" y="289545"/>
                </a:lnTo>
                <a:cubicBezTo>
                  <a:pt x="486110" y="287089"/>
                  <a:pt x="478185" y="287089"/>
                  <a:pt x="470929" y="289545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15363" y="2922270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Отсутствие осведомлённости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1520" y="3303270"/>
            <a:ext cx="325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Пользователи не знают, насколько их пароли уязвимы, и не понимают риски использования одинаковых паролей на разных сервисах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9620" y="5116830"/>
            <a:ext cx="3181350" cy="7620"/>
          </a:xfrm>
          <a:custGeom>
            <a:avLst/>
            <a:gdLst/>
            <a:ahLst/>
            <a:cxnLst/>
            <a:rect l="l" t="t" r="r" b="b"/>
            <a:pathLst>
              <a:path w="3181350" h="7620">
                <a:moveTo>
                  <a:pt x="0" y="0"/>
                </a:moveTo>
                <a:lnTo>
                  <a:pt x="3181350" y="0"/>
                </a:lnTo>
                <a:lnTo>
                  <a:pt x="31813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425339" y="530161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8632507" y="5273040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Нужен простой инструмент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810" y="5932170"/>
            <a:ext cx="11418570" cy="541020"/>
          </a:xfrm>
          <a:custGeom>
            <a:avLst/>
            <a:gdLst/>
            <a:ahLst/>
            <a:cxnLst/>
            <a:rect l="l" t="t" r="r" b="b"/>
            <a:pathLst>
              <a:path w="11418570" h="541020">
                <a:moveTo>
                  <a:pt x="76203" y="0"/>
                </a:moveTo>
                <a:lnTo>
                  <a:pt x="11342367" y="0"/>
                </a:lnTo>
                <a:cubicBezTo>
                  <a:pt x="11384453" y="0"/>
                  <a:pt x="11418570" y="34117"/>
                  <a:pt x="11418570" y="76203"/>
                </a:cubicBezTo>
                <a:lnTo>
                  <a:pt x="11418570" y="464817"/>
                </a:lnTo>
                <a:cubicBezTo>
                  <a:pt x="11418570" y="506903"/>
                  <a:pt x="11384453" y="541020"/>
                  <a:pt x="11342367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5149">
              <a:alpha val="10196"/>
            </a:srgbClr>
          </a:solidFill>
          <a:ln w="10160">
            <a:solidFill>
              <a:srgbClr val="F85149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3882" y="608838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29" name="Text 27"/>
          <p:cNvSpPr/>
          <p:nvPr/>
        </p:nvSpPr>
        <p:spPr>
          <a:xfrm>
            <a:off x="979170" y="6088381"/>
            <a:ext cx="1030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«Средний пользователь </a:t>
            </a:r>
            <a:r>
              <a:rPr lang="en-US" sz="1200" dirty="0" err="1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имеет</a:t>
            </a: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</a:t>
            </a: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паролей, но использует один и тот же пароль на 70% сервисов»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408093" y="608838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32159"/>
                </a:moveTo>
                <a:cubicBezTo>
                  <a:pt x="200025" y="161761"/>
                  <a:pt x="176049" y="185738"/>
                  <a:pt x="146447" y="185738"/>
                </a:cubicBezTo>
                <a:lnTo>
                  <a:pt x="142875" y="185738"/>
                </a:lnTo>
                <a:cubicBezTo>
                  <a:pt x="134972" y="185738"/>
                  <a:pt x="128588" y="179353"/>
                  <a:pt x="128588" y="171450"/>
                </a:cubicBezTo>
                <a:cubicBezTo>
                  <a:pt x="128588" y="163547"/>
                  <a:pt x="134972" y="157163"/>
                  <a:pt x="142875" y="157163"/>
                </a:cubicBezTo>
                <a:lnTo>
                  <a:pt x="146447" y="157163"/>
                </a:lnTo>
                <a:cubicBezTo>
                  <a:pt x="160243" y="157163"/>
                  <a:pt x="171450" y="145956"/>
                  <a:pt x="171450" y="132159"/>
                </a:cubicBezTo>
                <a:lnTo>
                  <a:pt x="171450" y="128588"/>
                </a:lnTo>
                <a:lnTo>
                  <a:pt x="142875" y="128588"/>
                </a:lnTo>
                <a:cubicBezTo>
                  <a:pt x="127114" y="128588"/>
                  <a:pt x="114300" y="115773"/>
                  <a:pt x="114300" y="100013"/>
                </a:cubicBezTo>
                <a:lnTo>
                  <a:pt x="114300" y="71438"/>
                </a:lnTo>
                <a:cubicBezTo>
                  <a:pt x="114300" y="55677"/>
                  <a:pt x="127114" y="42863"/>
                  <a:pt x="142875" y="42863"/>
                </a:cubicBezTo>
                <a:lnTo>
                  <a:pt x="171450" y="42863"/>
                </a:lnTo>
                <a:cubicBezTo>
                  <a:pt x="187211" y="42863"/>
                  <a:pt x="200025" y="55677"/>
                  <a:pt x="200025" y="71438"/>
                </a:cubicBezTo>
                <a:lnTo>
                  <a:pt x="200025" y="132159"/>
                </a:lnTo>
                <a:close/>
                <a:moveTo>
                  <a:pt x="85725" y="132159"/>
                </a:moveTo>
                <a:cubicBezTo>
                  <a:pt x="85725" y="161761"/>
                  <a:pt x="61749" y="185738"/>
                  <a:pt x="32147" y="185738"/>
                </a:cubicBezTo>
                <a:lnTo>
                  <a:pt x="28575" y="185738"/>
                </a:lnTo>
                <a:cubicBezTo>
                  <a:pt x="20672" y="185738"/>
                  <a:pt x="14288" y="179353"/>
                  <a:pt x="14288" y="171450"/>
                </a:cubicBezTo>
                <a:cubicBezTo>
                  <a:pt x="14288" y="163547"/>
                  <a:pt x="20672" y="157163"/>
                  <a:pt x="28575" y="157163"/>
                </a:cubicBezTo>
                <a:lnTo>
                  <a:pt x="32147" y="157163"/>
                </a:lnTo>
                <a:cubicBezTo>
                  <a:pt x="45943" y="157163"/>
                  <a:pt x="57150" y="145956"/>
                  <a:pt x="57150" y="132159"/>
                </a:cubicBezTo>
                <a:lnTo>
                  <a:pt x="57150" y="128588"/>
                </a:lnTo>
                <a:lnTo>
                  <a:pt x="28575" y="128588"/>
                </a:lnTo>
                <a:cubicBezTo>
                  <a:pt x="12814" y="128588"/>
                  <a:pt x="0" y="115773"/>
                  <a:pt x="0" y="100013"/>
                </a:cubicBezTo>
                <a:lnTo>
                  <a:pt x="0" y="71438"/>
                </a:lnTo>
                <a:cubicBezTo>
                  <a:pt x="0" y="55677"/>
                  <a:pt x="12814" y="42863"/>
                  <a:pt x="28575" y="42863"/>
                </a:cubicBezTo>
                <a:lnTo>
                  <a:pt x="57150" y="42863"/>
                </a:lnTo>
                <a:cubicBezTo>
                  <a:pt x="72911" y="42863"/>
                  <a:pt x="85725" y="55677"/>
                  <a:pt x="85725" y="71438"/>
                </a:cubicBezTo>
                <a:lnTo>
                  <a:pt x="85725" y="132159"/>
                </a:lnTo>
                <a:close/>
              </a:path>
            </a:pathLst>
          </a:custGeom>
          <a:solidFill>
            <a:srgbClr val="F85149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9587" y="5810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Решение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71500"/>
            <a:ext cx="3228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Концепция сервиса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99210"/>
            <a:ext cx="8065770" cy="1493520"/>
          </a:xfrm>
          <a:custGeom>
            <a:avLst/>
            <a:gdLst/>
            <a:ahLst/>
            <a:cxnLst/>
            <a:rect l="l" t="t" r="r" b="b"/>
            <a:pathLst>
              <a:path w="8065770" h="1493520">
                <a:moveTo>
                  <a:pt x="114299" y="0"/>
                </a:moveTo>
                <a:lnTo>
                  <a:pt x="7951471" y="0"/>
                </a:lnTo>
                <a:cubicBezTo>
                  <a:pt x="8014597" y="0"/>
                  <a:pt x="8065770" y="51173"/>
                  <a:pt x="8065770" y="114299"/>
                </a:cubicBezTo>
                <a:lnTo>
                  <a:pt x="8065770" y="1379221"/>
                </a:lnTo>
                <a:cubicBezTo>
                  <a:pt x="8065770" y="1442347"/>
                  <a:pt x="8014597" y="1493520"/>
                  <a:pt x="7951471" y="1493520"/>
                </a:cubicBezTo>
                <a:lnTo>
                  <a:pt x="114299" y="1493520"/>
                </a:lnTo>
                <a:cubicBezTo>
                  <a:pt x="51216" y="1493520"/>
                  <a:pt x="0" y="1442304"/>
                  <a:pt x="0" y="13792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531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9620" y="16840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303020" y="1531620"/>
            <a:ext cx="7029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Веб-приложение для проверки пароля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3020" y="1912501"/>
            <a:ext cx="6991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Простой и интуитивно понятный интерфейс, позволяющий мгновенно оценить надёжность пароля без необходимости регистрации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028831"/>
            <a:ext cx="2579370" cy="1379220"/>
          </a:xfrm>
          <a:custGeom>
            <a:avLst/>
            <a:gdLst/>
            <a:ahLst/>
            <a:cxnLst/>
            <a:rect l="l" t="t" r="r" b="b"/>
            <a:pathLst>
              <a:path w="2579370" h="1379220">
                <a:moveTo>
                  <a:pt x="76202" y="0"/>
                </a:moveTo>
                <a:lnTo>
                  <a:pt x="2503168" y="0"/>
                </a:lnTo>
                <a:cubicBezTo>
                  <a:pt x="2545253" y="0"/>
                  <a:pt x="2579370" y="34117"/>
                  <a:pt x="2579370" y="76202"/>
                </a:cubicBezTo>
                <a:lnTo>
                  <a:pt x="2579370" y="1303018"/>
                </a:lnTo>
                <a:cubicBezTo>
                  <a:pt x="2579370" y="1345103"/>
                  <a:pt x="2545253" y="1379220"/>
                  <a:pt x="2503168" y="1379220"/>
                </a:cubicBezTo>
                <a:lnTo>
                  <a:pt x="76202" y="1379220"/>
                </a:lnTo>
                <a:cubicBezTo>
                  <a:pt x="34117" y="1379220"/>
                  <a:pt x="0" y="1345103"/>
                  <a:pt x="0" y="13030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85149">
              <a:alpha val="10196"/>
            </a:srgbClr>
          </a:solidFill>
          <a:ln w="10160">
            <a:solidFill>
              <a:srgbClr val="F85149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7800" y="31850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85149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81150" y="331839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14" name="Text 12"/>
          <p:cNvSpPr/>
          <p:nvPr/>
        </p:nvSpPr>
        <p:spPr>
          <a:xfrm>
            <a:off x="498157" y="3756542"/>
            <a:ext cx="235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51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Слабый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682" y="4061342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Легко взломать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28010" y="3028831"/>
            <a:ext cx="2579370" cy="1379220"/>
          </a:xfrm>
          <a:custGeom>
            <a:avLst/>
            <a:gdLst/>
            <a:ahLst/>
            <a:cxnLst/>
            <a:rect l="l" t="t" r="r" b="b"/>
            <a:pathLst>
              <a:path w="2579370" h="1379220">
                <a:moveTo>
                  <a:pt x="76202" y="0"/>
                </a:moveTo>
                <a:lnTo>
                  <a:pt x="2503168" y="0"/>
                </a:lnTo>
                <a:cubicBezTo>
                  <a:pt x="2545253" y="0"/>
                  <a:pt x="2579370" y="34117"/>
                  <a:pt x="2579370" y="76202"/>
                </a:cubicBezTo>
                <a:lnTo>
                  <a:pt x="2579370" y="1303018"/>
                </a:lnTo>
                <a:cubicBezTo>
                  <a:pt x="2579370" y="1345103"/>
                  <a:pt x="2545253" y="1379220"/>
                  <a:pt x="2503168" y="1379220"/>
                </a:cubicBezTo>
                <a:lnTo>
                  <a:pt x="76202" y="1379220"/>
                </a:lnTo>
                <a:cubicBezTo>
                  <a:pt x="34117" y="1379220"/>
                  <a:pt x="0" y="1345103"/>
                  <a:pt x="0" y="13030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0883E">
              <a:alpha val="10196"/>
            </a:srgbClr>
          </a:solidFill>
          <a:ln w="10160">
            <a:solidFill>
              <a:srgbClr val="F0883E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91000" y="31850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0883E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324350" y="331839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19" name="Text 17"/>
          <p:cNvSpPr/>
          <p:nvPr/>
        </p:nvSpPr>
        <p:spPr>
          <a:xfrm>
            <a:off x="3241358" y="3756542"/>
            <a:ext cx="235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Средний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50883" y="4061342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Требует улучшения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71210" y="3028831"/>
            <a:ext cx="2579370" cy="1379220"/>
          </a:xfrm>
          <a:custGeom>
            <a:avLst/>
            <a:gdLst/>
            <a:ahLst/>
            <a:cxnLst/>
            <a:rect l="l" t="t" r="r" b="b"/>
            <a:pathLst>
              <a:path w="2579370" h="1379220">
                <a:moveTo>
                  <a:pt x="76202" y="0"/>
                </a:moveTo>
                <a:lnTo>
                  <a:pt x="2503168" y="0"/>
                </a:lnTo>
                <a:cubicBezTo>
                  <a:pt x="2545253" y="0"/>
                  <a:pt x="2579370" y="34117"/>
                  <a:pt x="2579370" y="76202"/>
                </a:cubicBezTo>
                <a:lnTo>
                  <a:pt x="2579370" y="1303018"/>
                </a:lnTo>
                <a:cubicBezTo>
                  <a:pt x="2579370" y="1345103"/>
                  <a:pt x="2545253" y="1379220"/>
                  <a:pt x="2503168" y="1379220"/>
                </a:cubicBezTo>
                <a:lnTo>
                  <a:pt x="76202" y="1379220"/>
                </a:lnTo>
                <a:cubicBezTo>
                  <a:pt x="34117" y="1379220"/>
                  <a:pt x="0" y="1345103"/>
                  <a:pt x="0" y="13030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FB950">
              <a:alpha val="10196"/>
            </a:srgbClr>
          </a:solidFill>
          <a:ln w="10160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4200" y="31850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067550" y="331839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5984557" y="3756542"/>
            <a:ext cx="235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Сильный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94082" y="4061342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Надёжная защита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810" y="4644271"/>
            <a:ext cx="8065770" cy="1607820"/>
          </a:xfrm>
          <a:custGeom>
            <a:avLst/>
            <a:gdLst/>
            <a:ahLst/>
            <a:cxnLst/>
            <a:rect l="l" t="t" r="r" b="b"/>
            <a:pathLst>
              <a:path w="8065770" h="1607820">
                <a:moveTo>
                  <a:pt x="114300" y="0"/>
                </a:moveTo>
                <a:lnTo>
                  <a:pt x="7951470" y="0"/>
                </a:lnTo>
                <a:cubicBezTo>
                  <a:pt x="8014596" y="0"/>
                  <a:pt x="8065770" y="51174"/>
                  <a:pt x="8065770" y="114300"/>
                </a:cubicBezTo>
                <a:lnTo>
                  <a:pt x="8065770" y="1493520"/>
                </a:lnTo>
                <a:cubicBezTo>
                  <a:pt x="8065770" y="1556646"/>
                  <a:pt x="8014596" y="1607820"/>
                  <a:pt x="7951470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C9D1D9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2932" y="488620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443" y="4085"/>
                </a:moveTo>
                <a:lnTo>
                  <a:pt x="103908" y="33620"/>
                </a:lnTo>
                <a:lnTo>
                  <a:pt x="137830" y="67542"/>
                </a:lnTo>
                <a:lnTo>
                  <a:pt x="167365" y="38007"/>
                </a:lnTo>
                <a:cubicBezTo>
                  <a:pt x="169977" y="35362"/>
                  <a:pt x="171450" y="31812"/>
                  <a:pt x="171450" y="28129"/>
                </a:cubicBezTo>
                <a:cubicBezTo>
                  <a:pt x="171450" y="24445"/>
                  <a:pt x="169977" y="20895"/>
                  <a:pt x="167365" y="18250"/>
                </a:cubicBezTo>
                <a:lnTo>
                  <a:pt x="153200" y="4085"/>
                </a:lnTo>
                <a:cubicBezTo>
                  <a:pt x="150555" y="1473"/>
                  <a:pt x="147005" y="0"/>
                  <a:pt x="143321" y="0"/>
                </a:cubicBezTo>
                <a:cubicBezTo>
                  <a:pt x="139638" y="0"/>
                  <a:pt x="136088" y="1473"/>
                  <a:pt x="133443" y="4085"/>
                </a:cubicBezTo>
                <a:close/>
                <a:moveTo>
                  <a:pt x="92556" y="44972"/>
                </a:moveTo>
                <a:lnTo>
                  <a:pt x="4085" y="133443"/>
                </a:lnTo>
                <a:cubicBezTo>
                  <a:pt x="1473" y="136088"/>
                  <a:pt x="0" y="139638"/>
                  <a:pt x="0" y="143321"/>
                </a:cubicBezTo>
                <a:cubicBezTo>
                  <a:pt x="0" y="147005"/>
                  <a:pt x="1473" y="150555"/>
                  <a:pt x="4085" y="153200"/>
                </a:cubicBezTo>
                <a:lnTo>
                  <a:pt x="18250" y="167365"/>
                </a:lnTo>
                <a:cubicBezTo>
                  <a:pt x="20895" y="169977"/>
                  <a:pt x="24445" y="171450"/>
                  <a:pt x="28129" y="171450"/>
                </a:cubicBezTo>
                <a:cubicBezTo>
                  <a:pt x="31812" y="171450"/>
                  <a:pt x="35362" y="169977"/>
                  <a:pt x="38007" y="167365"/>
                </a:cubicBezTo>
                <a:lnTo>
                  <a:pt x="126478" y="78894"/>
                </a:lnTo>
                <a:lnTo>
                  <a:pt x="92556" y="44972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8" name="Text 26"/>
          <p:cNvSpPr/>
          <p:nvPr/>
        </p:nvSpPr>
        <p:spPr>
          <a:xfrm>
            <a:off x="927635" y="4838581"/>
            <a:ext cx="754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Рекомендации по улучшению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3173" y="5257681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0" name="Text 28"/>
          <p:cNvSpPr/>
          <p:nvPr/>
        </p:nvSpPr>
        <p:spPr>
          <a:xfrm>
            <a:off x="822008" y="5219581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D1D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Конкретные советы по усилению пароля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3173" y="5562481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008" y="5524381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D1D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на распространённые паттерны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3173" y="5867281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4" name="Text 32"/>
          <p:cNvSpPr/>
          <p:nvPr/>
        </p:nvSpPr>
        <p:spPr>
          <a:xfrm>
            <a:off x="822008" y="5829181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D1D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Оценка энтропии и сложности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766810" y="1299210"/>
            <a:ext cx="3036570" cy="3503295"/>
          </a:xfrm>
          <a:custGeom>
            <a:avLst/>
            <a:gdLst/>
            <a:ahLst/>
            <a:cxnLst/>
            <a:rect l="l" t="t" r="r" b="b"/>
            <a:pathLst>
              <a:path w="3036570" h="3503295">
                <a:moveTo>
                  <a:pt x="114296" y="0"/>
                </a:moveTo>
                <a:lnTo>
                  <a:pt x="2922274" y="0"/>
                </a:lnTo>
                <a:cubicBezTo>
                  <a:pt x="2985398" y="0"/>
                  <a:pt x="3036570" y="51172"/>
                  <a:pt x="3036570" y="114296"/>
                </a:cubicBezTo>
                <a:lnTo>
                  <a:pt x="3036570" y="3388999"/>
                </a:lnTo>
                <a:cubicBezTo>
                  <a:pt x="3036570" y="3452123"/>
                  <a:pt x="2985398" y="3503295"/>
                  <a:pt x="2922274" y="3503295"/>
                </a:cubicBezTo>
                <a:lnTo>
                  <a:pt x="114296" y="3503295"/>
                </a:lnTo>
                <a:cubicBezTo>
                  <a:pt x="51172" y="3503295"/>
                  <a:pt x="0" y="3452123"/>
                  <a:pt x="0" y="3388999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84932" y="154114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37" name="Text 35"/>
          <p:cNvSpPr/>
          <p:nvPr/>
        </p:nvSpPr>
        <p:spPr>
          <a:xfrm>
            <a:off x="9180195" y="1493520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Ключевые функции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961120" y="19316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025414" y="198882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0" name="Text 38"/>
          <p:cNvSpPr/>
          <p:nvPr/>
        </p:nvSpPr>
        <p:spPr>
          <a:xfrm>
            <a:off x="9304020" y="191262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Оценка стойкости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04020" y="210312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Многофакторный анализ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961120" y="23887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25414" y="244590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4" name="Text 42"/>
          <p:cNvSpPr/>
          <p:nvPr/>
        </p:nvSpPr>
        <p:spPr>
          <a:xfrm>
            <a:off x="9304020" y="2369701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утечек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04020" y="2560201"/>
            <a:ext cx="1095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 базе хешей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961120" y="2845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025414" y="290298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8" name="Text 46"/>
          <p:cNvSpPr/>
          <p:nvPr/>
        </p:nvSpPr>
        <p:spPr>
          <a:xfrm>
            <a:off x="9304020" y="2826782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Рекомендации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304020" y="3017282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Персонализированные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961120" y="330291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025414" y="33600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52" name="Text 50"/>
          <p:cNvSpPr/>
          <p:nvPr/>
        </p:nvSpPr>
        <p:spPr>
          <a:xfrm>
            <a:off x="9304020" y="3283864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304020" y="3474364"/>
            <a:ext cx="1190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Нет хранения данных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766810" y="4960621"/>
            <a:ext cx="3036570" cy="1512570"/>
          </a:xfrm>
          <a:custGeom>
            <a:avLst/>
            <a:gdLst/>
            <a:ahLst/>
            <a:cxnLst/>
            <a:rect l="l" t="t" r="r" b="b"/>
            <a:pathLst>
              <a:path w="3036570" h="1512570">
                <a:moveTo>
                  <a:pt x="114305" y="0"/>
                </a:moveTo>
                <a:lnTo>
                  <a:pt x="2922265" y="0"/>
                </a:lnTo>
                <a:cubicBezTo>
                  <a:pt x="2985394" y="0"/>
                  <a:pt x="3036570" y="51176"/>
                  <a:pt x="3036570" y="114305"/>
                </a:cubicBezTo>
                <a:lnTo>
                  <a:pt x="3036570" y="1398265"/>
                </a:lnTo>
                <a:cubicBezTo>
                  <a:pt x="3036570" y="1461394"/>
                  <a:pt x="2985394" y="1512570"/>
                  <a:pt x="2922265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>
                  <a:alpha val="20000"/>
                </a:srgbClr>
              </a:gs>
              <a:gs pos="100000">
                <a:srgbClr val="3FB950">
                  <a:alpha val="20000"/>
                </a:srgbClr>
              </a:gs>
            </a:gsLst>
            <a:lin ang="2700000" scaled="1"/>
          </a:gradFill>
          <a:ln w="10160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46506" y="515493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56" name="Text 54"/>
          <p:cNvSpPr/>
          <p:nvPr/>
        </p:nvSpPr>
        <p:spPr>
          <a:xfrm>
            <a:off x="8918257" y="5554980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Быстро и просто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927782" y="5897880"/>
            <a:ext cx="271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 за доли секунды без регистрации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81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110" y="-837"/>
                </a:moveTo>
                <a:cubicBezTo>
                  <a:pt x="81740" y="-4655"/>
                  <a:pt x="89911" y="-4655"/>
                  <a:pt x="96541" y="-837"/>
                </a:cubicBezTo>
                <a:lnTo>
                  <a:pt x="155444" y="33151"/>
                </a:lnTo>
                <a:cubicBezTo>
                  <a:pt x="162074" y="36969"/>
                  <a:pt x="166159" y="44068"/>
                  <a:pt x="166159" y="51703"/>
                </a:cubicBezTo>
                <a:lnTo>
                  <a:pt x="166159" y="119680"/>
                </a:lnTo>
                <a:cubicBezTo>
                  <a:pt x="166159" y="127349"/>
                  <a:pt x="162074" y="134414"/>
                  <a:pt x="155444" y="138232"/>
                </a:cubicBezTo>
                <a:lnTo>
                  <a:pt x="96541" y="172287"/>
                </a:lnTo>
                <a:cubicBezTo>
                  <a:pt x="89911" y="176105"/>
                  <a:pt x="81740" y="176105"/>
                  <a:pt x="75110" y="172287"/>
                </a:cubicBezTo>
                <a:lnTo>
                  <a:pt x="16241" y="138299"/>
                </a:lnTo>
                <a:cubicBezTo>
                  <a:pt x="9611" y="134481"/>
                  <a:pt x="5525" y="127382"/>
                  <a:pt x="5525" y="119747"/>
                </a:cubicBezTo>
                <a:lnTo>
                  <a:pt x="5525" y="51770"/>
                </a:lnTo>
                <a:cubicBezTo>
                  <a:pt x="5525" y="44101"/>
                  <a:pt x="9611" y="37036"/>
                  <a:pt x="16241" y="33218"/>
                </a:cubicBezTo>
                <a:lnTo>
                  <a:pt x="75110" y="-837"/>
                </a:lnTo>
                <a:close/>
                <a:moveTo>
                  <a:pt x="144694" y="119714"/>
                </a:moveTo>
                <a:lnTo>
                  <a:pt x="144694" y="64093"/>
                </a:lnTo>
                <a:lnTo>
                  <a:pt x="96541" y="91886"/>
                </a:lnTo>
                <a:lnTo>
                  <a:pt x="96541" y="147507"/>
                </a:lnTo>
                <a:lnTo>
                  <a:pt x="144694" y="119714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53" normalizeH="0" baseline="0" noProof="0" dirty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Продукт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76300" y="571500"/>
            <a:ext cx="4962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MVP (Minimum Viable Product)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810" y="1299210"/>
            <a:ext cx="5589270" cy="3789045"/>
          </a:xfrm>
          <a:custGeom>
            <a:avLst/>
            <a:gdLst/>
            <a:ahLst/>
            <a:cxnLst/>
            <a:rect l="l" t="t" r="r" b="b"/>
            <a:pathLst>
              <a:path w="5589270" h="3789045">
                <a:moveTo>
                  <a:pt x="114315" y="0"/>
                </a:moveTo>
                <a:lnTo>
                  <a:pt x="5474955" y="0"/>
                </a:lnTo>
                <a:cubicBezTo>
                  <a:pt x="5538089" y="0"/>
                  <a:pt x="5589270" y="51181"/>
                  <a:pt x="5589270" y="114315"/>
                </a:cubicBezTo>
                <a:lnTo>
                  <a:pt x="5589270" y="3674730"/>
                </a:lnTo>
                <a:cubicBezTo>
                  <a:pt x="5589270" y="3737864"/>
                  <a:pt x="5538089" y="3789045"/>
                  <a:pt x="5474955" y="3789045"/>
                </a:cubicBezTo>
                <a:lnTo>
                  <a:pt x="114315" y="3789045"/>
                </a:lnTo>
                <a:cubicBezTo>
                  <a:pt x="51181" y="3789045"/>
                  <a:pt x="0" y="3737864"/>
                  <a:pt x="0" y="3674730"/>
                </a:cubicBezTo>
                <a:lnTo>
                  <a:pt x="0" y="114315"/>
                </a:lnTo>
                <a:cubicBezTo>
                  <a:pt x="0" y="51181"/>
                  <a:pt x="51181" y="0"/>
                  <a:pt x="114315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531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0570" y="16649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32742" y="47625"/>
                </a:moveTo>
                <a:lnTo>
                  <a:pt x="157758" y="47625"/>
                </a:lnTo>
                <a:cubicBezTo>
                  <a:pt x="162706" y="47625"/>
                  <a:pt x="166688" y="51606"/>
                  <a:pt x="166688" y="56555"/>
                </a:cubicBezTo>
                <a:cubicBezTo>
                  <a:pt x="166688" y="61503"/>
                  <a:pt x="162706" y="65484"/>
                  <a:pt x="157758" y="65484"/>
                </a:cubicBezTo>
                <a:lnTo>
                  <a:pt x="32742" y="65484"/>
                </a:lnTo>
                <a:cubicBezTo>
                  <a:pt x="27794" y="65484"/>
                  <a:pt x="23812" y="61503"/>
                  <a:pt x="23812" y="56555"/>
                </a:cubicBezTo>
                <a:cubicBezTo>
                  <a:pt x="23812" y="51606"/>
                  <a:pt x="27794" y="47625"/>
                  <a:pt x="32742" y="47625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62687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Один экран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030" y="2145030"/>
            <a:ext cx="5122545" cy="1360170"/>
          </a:xfrm>
          <a:custGeom>
            <a:avLst/>
            <a:gdLst/>
            <a:ahLst/>
            <a:cxnLst/>
            <a:rect l="l" t="t" r="r" b="b"/>
            <a:pathLst>
              <a:path w="5122545" h="1360170">
                <a:moveTo>
                  <a:pt x="76197" y="0"/>
                </a:moveTo>
                <a:lnTo>
                  <a:pt x="5046348" y="0"/>
                </a:lnTo>
                <a:cubicBezTo>
                  <a:pt x="5088431" y="0"/>
                  <a:pt x="5122545" y="34114"/>
                  <a:pt x="5122545" y="76197"/>
                </a:cubicBezTo>
                <a:lnTo>
                  <a:pt x="5122545" y="1283973"/>
                </a:lnTo>
                <a:cubicBezTo>
                  <a:pt x="5122545" y="1326056"/>
                  <a:pt x="5088431" y="1360170"/>
                  <a:pt x="5046348" y="1360170"/>
                </a:cubicBezTo>
                <a:lnTo>
                  <a:pt x="76197" y="1360170"/>
                </a:lnTo>
                <a:cubicBezTo>
                  <a:pt x="34143" y="1360170"/>
                  <a:pt x="0" y="1326027"/>
                  <a:pt x="0" y="128397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01241"/>
            <a:ext cx="486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9D1D9">
                    <a:alpha val="60000"/>
                  </a:srgbClr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Введите пароль для проверки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81050" y="2495432"/>
            <a:ext cx="4293870" cy="388620"/>
          </a:xfrm>
          <a:custGeom>
            <a:avLst/>
            <a:gdLst/>
            <a:ahLst/>
            <a:cxnLst/>
            <a:rect l="l" t="t" r="r" b="b"/>
            <a:pathLst>
              <a:path w="4293870" h="388620">
                <a:moveTo>
                  <a:pt x="38100" y="0"/>
                </a:moveTo>
                <a:lnTo>
                  <a:pt x="4255770" y="0"/>
                </a:lnTo>
                <a:cubicBezTo>
                  <a:pt x="4276812" y="0"/>
                  <a:pt x="4293870" y="17058"/>
                  <a:pt x="4293870" y="38100"/>
                </a:cubicBezTo>
                <a:lnTo>
                  <a:pt x="4293870" y="350520"/>
                </a:lnTo>
                <a:cubicBezTo>
                  <a:pt x="4293870" y="371562"/>
                  <a:pt x="4276812" y="388620"/>
                  <a:pt x="4255770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C9D1D9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54930" y="2495432"/>
            <a:ext cx="426720" cy="388620"/>
          </a:xfrm>
          <a:custGeom>
            <a:avLst/>
            <a:gdLst/>
            <a:ahLst/>
            <a:cxnLst/>
            <a:rect l="l" t="t" r="r" b="b"/>
            <a:pathLst>
              <a:path w="426720" h="388620">
                <a:moveTo>
                  <a:pt x="38100" y="0"/>
                </a:moveTo>
                <a:lnTo>
                  <a:pt x="388620" y="0"/>
                </a:lnTo>
                <a:cubicBezTo>
                  <a:pt x="409662" y="0"/>
                  <a:pt x="426720" y="17058"/>
                  <a:pt x="426720" y="38100"/>
                </a:cubicBezTo>
                <a:lnTo>
                  <a:pt x="426720" y="350520"/>
                </a:lnTo>
                <a:cubicBezTo>
                  <a:pt x="426720" y="371562"/>
                  <a:pt x="409662" y="388620"/>
                  <a:pt x="388620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C9D1D9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82565" y="260592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C9D1D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002161"/>
            <a:ext cx="4810125" cy="342900"/>
          </a:xfrm>
          <a:custGeom>
            <a:avLst/>
            <a:gdLst/>
            <a:ahLst/>
            <a:cxnLst/>
            <a:rect l="l" t="t" r="r" b="b"/>
            <a:pathLst>
              <a:path w="4810125" h="342900">
                <a:moveTo>
                  <a:pt x="38100" y="0"/>
                </a:moveTo>
                <a:lnTo>
                  <a:pt x="4772025" y="0"/>
                </a:lnTo>
                <a:cubicBezTo>
                  <a:pt x="4793067" y="0"/>
                  <a:pt x="4810125" y="17058"/>
                  <a:pt x="4810125" y="38100"/>
                </a:cubicBezTo>
                <a:lnTo>
                  <a:pt x="4810125" y="304800"/>
                </a:lnTo>
                <a:cubicBezTo>
                  <a:pt x="4810125" y="325842"/>
                  <a:pt x="4793067" y="342900"/>
                  <a:pt x="47720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43902" y="3002161"/>
            <a:ext cx="4876800" cy="342900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Проверить пароль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7220" y="3657481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9D1D9">
                    <a:alpha val="70000"/>
                  </a:srgbClr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Минималистичный интерфейс с полем ввода и кнопкой проверки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4810" y="5246490"/>
            <a:ext cx="5589270" cy="1226820"/>
          </a:xfrm>
          <a:custGeom>
            <a:avLst/>
            <a:gdLst/>
            <a:ahLst/>
            <a:cxnLst/>
            <a:rect l="l" t="t" r="r" b="b"/>
            <a:pathLst>
              <a:path w="5589270" h="12268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1112517"/>
                </a:lnTo>
                <a:cubicBezTo>
                  <a:pt x="5589270" y="1175603"/>
                  <a:pt x="5538053" y="1226820"/>
                  <a:pt x="54749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839" y="54789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931545" y="5440800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База хешей утечек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9120" y="582180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9D1D9">
                    <a:alpha val="70000"/>
                  </a:srgbClr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 база данных с популярными хешами скомпрометированных паролей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3407" y="61455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58177" y="0"/>
                  <a:pt x="59204" y="223"/>
                  <a:pt x="60141" y="647"/>
                </a:cubicBezTo>
                <a:lnTo>
                  <a:pt x="102200" y="18484"/>
                </a:lnTo>
                <a:cubicBezTo>
                  <a:pt x="107112" y="20561"/>
                  <a:pt x="110773" y="25405"/>
                  <a:pt x="110750" y="31254"/>
                </a:cubicBezTo>
                <a:cubicBezTo>
                  <a:pt x="110639" y="53400"/>
                  <a:pt x="101531" y="93918"/>
                  <a:pt x="63066" y="112335"/>
                </a:cubicBezTo>
                <a:cubicBezTo>
                  <a:pt x="59338" y="114121"/>
                  <a:pt x="55007" y="114121"/>
                  <a:pt x="51279" y="112335"/>
                </a:cubicBezTo>
                <a:cubicBezTo>
                  <a:pt x="12792" y="93918"/>
                  <a:pt x="3706" y="53400"/>
                  <a:pt x="3594" y="31254"/>
                </a:cubicBezTo>
                <a:cubicBezTo>
                  <a:pt x="3572" y="25405"/>
                  <a:pt x="7233" y="20561"/>
                  <a:pt x="12144" y="18484"/>
                </a:cubicBezTo>
                <a:lnTo>
                  <a:pt x="54181" y="647"/>
                </a:lnTo>
                <a:cubicBezTo>
                  <a:pt x="55118" y="223"/>
                  <a:pt x="56123" y="0"/>
                  <a:pt x="57150" y="0"/>
                </a:cubicBezTo>
                <a:close/>
                <a:moveTo>
                  <a:pt x="57150" y="14913"/>
                </a:moveTo>
                <a:lnTo>
                  <a:pt x="57150" y="99320"/>
                </a:lnTo>
                <a:cubicBezTo>
                  <a:pt x="87957" y="84408"/>
                  <a:pt x="96240" y="51368"/>
                  <a:pt x="96441" y="31589"/>
                </a:cubicBezTo>
                <a:lnTo>
                  <a:pt x="57150" y="14935"/>
                </a:lnTo>
                <a:lnTo>
                  <a:pt x="57150" y="14935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798195" y="6126600"/>
            <a:ext cx="1809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Хранятся только хеши, не пароли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4110" y="1299210"/>
            <a:ext cx="5589270" cy="3712845"/>
          </a:xfrm>
          <a:custGeom>
            <a:avLst/>
            <a:gdLst/>
            <a:ahLst/>
            <a:cxnLst/>
            <a:rect l="l" t="t" r="r" b="b"/>
            <a:pathLst>
              <a:path w="5589270" h="3712845">
                <a:moveTo>
                  <a:pt x="114318" y="0"/>
                </a:moveTo>
                <a:lnTo>
                  <a:pt x="5474952" y="0"/>
                </a:lnTo>
                <a:cubicBezTo>
                  <a:pt x="5538088" y="0"/>
                  <a:pt x="5589270" y="51182"/>
                  <a:pt x="5589270" y="114318"/>
                </a:cubicBezTo>
                <a:lnTo>
                  <a:pt x="5589270" y="3598527"/>
                </a:lnTo>
                <a:cubicBezTo>
                  <a:pt x="5589270" y="3661663"/>
                  <a:pt x="5538088" y="3712845"/>
                  <a:pt x="5474952" y="3712845"/>
                </a:cubicBezTo>
                <a:lnTo>
                  <a:pt x="114318" y="3712845"/>
                </a:lnTo>
                <a:cubicBezTo>
                  <a:pt x="51182" y="3712845"/>
                  <a:pt x="0" y="3661663"/>
                  <a:pt x="0" y="359852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F0883E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1531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0883E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67964" y="16649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27" name="Text 25"/>
          <p:cNvSpPr/>
          <p:nvPr/>
        </p:nvSpPr>
        <p:spPr>
          <a:xfrm>
            <a:off x="7018020" y="1626870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проверки стойкости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50330" y="2145030"/>
            <a:ext cx="5122545" cy="655320"/>
          </a:xfrm>
          <a:custGeom>
            <a:avLst/>
            <a:gdLst/>
            <a:ahLst/>
            <a:cxnLst/>
            <a:rect l="l" t="t" r="r" b="b"/>
            <a:pathLst>
              <a:path w="5122545" h="655320">
                <a:moveTo>
                  <a:pt x="76201" y="0"/>
                </a:moveTo>
                <a:lnTo>
                  <a:pt x="5046344" y="0"/>
                </a:lnTo>
                <a:cubicBezTo>
                  <a:pt x="5088429" y="0"/>
                  <a:pt x="5122545" y="34116"/>
                  <a:pt x="5122545" y="76201"/>
                </a:cubicBezTo>
                <a:lnTo>
                  <a:pt x="5122545" y="579119"/>
                </a:lnTo>
                <a:cubicBezTo>
                  <a:pt x="5122545" y="621204"/>
                  <a:pt x="5088429" y="655320"/>
                  <a:pt x="5046344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79156" y="2291716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2502" y="100013"/>
                </a:moveTo>
                <a:cubicBezTo>
                  <a:pt x="5600" y="100013"/>
                  <a:pt x="0" y="94413"/>
                  <a:pt x="0" y="87511"/>
                </a:cubicBezTo>
                <a:lnTo>
                  <a:pt x="0" y="45839"/>
                </a:lnTo>
                <a:cubicBezTo>
                  <a:pt x="0" y="38937"/>
                  <a:pt x="5600" y="33337"/>
                  <a:pt x="12502" y="33337"/>
                </a:cubicBezTo>
                <a:lnTo>
                  <a:pt x="18752" y="33337"/>
                </a:lnTo>
                <a:lnTo>
                  <a:pt x="18752" y="60424"/>
                </a:lnTo>
                <a:cubicBezTo>
                  <a:pt x="18752" y="63888"/>
                  <a:pt x="21539" y="66675"/>
                  <a:pt x="25003" y="66675"/>
                </a:cubicBezTo>
                <a:cubicBezTo>
                  <a:pt x="28467" y="66675"/>
                  <a:pt x="31254" y="63888"/>
                  <a:pt x="31254" y="60424"/>
                </a:cubicBezTo>
                <a:lnTo>
                  <a:pt x="31254" y="33337"/>
                </a:lnTo>
                <a:lnTo>
                  <a:pt x="43755" y="33337"/>
                </a:lnTo>
                <a:lnTo>
                  <a:pt x="43755" y="52090"/>
                </a:lnTo>
                <a:cubicBezTo>
                  <a:pt x="43755" y="55554"/>
                  <a:pt x="46542" y="58341"/>
                  <a:pt x="50006" y="58341"/>
                </a:cubicBezTo>
                <a:cubicBezTo>
                  <a:pt x="53470" y="58341"/>
                  <a:pt x="56257" y="55554"/>
                  <a:pt x="56257" y="52090"/>
                </a:cubicBezTo>
                <a:lnTo>
                  <a:pt x="56257" y="33337"/>
                </a:lnTo>
                <a:lnTo>
                  <a:pt x="68759" y="33337"/>
                </a:lnTo>
                <a:lnTo>
                  <a:pt x="68759" y="60424"/>
                </a:lnTo>
                <a:cubicBezTo>
                  <a:pt x="68759" y="63888"/>
                  <a:pt x="71545" y="66675"/>
                  <a:pt x="75009" y="66675"/>
                </a:cubicBezTo>
                <a:cubicBezTo>
                  <a:pt x="78473" y="66675"/>
                  <a:pt x="81260" y="63888"/>
                  <a:pt x="81260" y="60424"/>
                </a:cubicBezTo>
                <a:lnTo>
                  <a:pt x="81260" y="33337"/>
                </a:lnTo>
                <a:lnTo>
                  <a:pt x="93762" y="33337"/>
                </a:lnTo>
                <a:lnTo>
                  <a:pt x="93762" y="52090"/>
                </a:lnTo>
                <a:cubicBezTo>
                  <a:pt x="93762" y="55554"/>
                  <a:pt x="96549" y="58341"/>
                  <a:pt x="100013" y="58341"/>
                </a:cubicBezTo>
                <a:cubicBezTo>
                  <a:pt x="103476" y="58341"/>
                  <a:pt x="106263" y="55554"/>
                  <a:pt x="106263" y="52090"/>
                </a:cubicBezTo>
                <a:lnTo>
                  <a:pt x="106263" y="33337"/>
                </a:lnTo>
                <a:lnTo>
                  <a:pt x="118765" y="33337"/>
                </a:lnTo>
                <a:lnTo>
                  <a:pt x="118765" y="60424"/>
                </a:lnTo>
                <a:cubicBezTo>
                  <a:pt x="118765" y="63888"/>
                  <a:pt x="121552" y="66675"/>
                  <a:pt x="125016" y="66675"/>
                </a:cubicBezTo>
                <a:cubicBezTo>
                  <a:pt x="128480" y="66675"/>
                  <a:pt x="131266" y="63888"/>
                  <a:pt x="131266" y="60424"/>
                </a:cubicBezTo>
                <a:lnTo>
                  <a:pt x="131266" y="33337"/>
                </a:lnTo>
                <a:lnTo>
                  <a:pt x="137517" y="33337"/>
                </a:lnTo>
                <a:cubicBezTo>
                  <a:pt x="144419" y="33337"/>
                  <a:pt x="150019" y="38937"/>
                  <a:pt x="150019" y="45839"/>
                </a:cubicBezTo>
                <a:lnTo>
                  <a:pt x="150019" y="87511"/>
                </a:lnTo>
                <a:cubicBezTo>
                  <a:pt x="150019" y="94413"/>
                  <a:pt x="144419" y="100013"/>
                  <a:pt x="137517" y="100013"/>
                </a:cubicBezTo>
                <a:lnTo>
                  <a:pt x="12502" y="100013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11328" y="2263141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Длина пароля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68440" y="2529841"/>
            <a:ext cx="4943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9D1D9">
                    <a:alpha val="60000"/>
                  </a:srgbClr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Минимум 8 символов, оптимально 12+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50330" y="2922150"/>
            <a:ext cx="5122545" cy="655320"/>
          </a:xfrm>
          <a:custGeom>
            <a:avLst/>
            <a:gdLst/>
            <a:ahLst/>
            <a:cxnLst/>
            <a:rect l="l" t="t" r="r" b="b"/>
            <a:pathLst>
              <a:path w="5122545" h="655320">
                <a:moveTo>
                  <a:pt x="76201" y="0"/>
                </a:moveTo>
                <a:lnTo>
                  <a:pt x="5046344" y="0"/>
                </a:lnTo>
                <a:cubicBezTo>
                  <a:pt x="5088429" y="0"/>
                  <a:pt x="5122545" y="34116"/>
                  <a:pt x="5122545" y="76201"/>
                </a:cubicBezTo>
                <a:lnTo>
                  <a:pt x="5122545" y="579119"/>
                </a:lnTo>
                <a:cubicBezTo>
                  <a:pt x="5122545" y="621204"/>
                  <a:pt x="5088429" y="655320"/>
                  <a:pt x="5046344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7490" y="306883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74254" y="13205"/>
                </a:moveTo>
                <a:cubicBezTo>
                  <a:pt x="72900" y="10236"/>
                  <a:pt x="69931" y="8334"/>
                  <a:pt x="66675" y="8334"/>
                </a:cubicBezTo>
                <a:cubicBezTo>
                  <a:pt x="63419" y="8334"/>
                  <a:pt x="60450" y="10236"/>
                  <a:pt x="59096" y="13205"/>
                </a:cubicBezTo>
                <a:lnTo>
                  <a:pt x="15497" y="108347"/>
                </a:lnTo>
                <a:lnTo>
                  <a:pt x="12502" y="108347"/>
                </a:lnTo>
                <a:cubicBezTo>
                  <a:pt x="7892" y="108347"/>
                  <a:pt x="4167" y="112071"/>
                  <a:pt x="4167" y="116681"/>
                </a:cubicBezTo>
                <a:cubicBezTo>
                  <a:pt x="4167" y="121291"/>
                  <a:pt x="7892" y="125016"/>
                  <a:pt x="12502" y="125016"/>
                </a:cubicBezTo>
                <a:lnTo>
                  <a:pt x="35421" y="125016"/>
                </a:lnTo>
                <a:cubicBezTo>
                  <a:pt x="40031" y="125016"/>
                  <a:pt x="43755" y="121291"/>
                  <a:pt x="43755" y="116681"/>
                </a:cubicBezTo>
                <a:cubicBezTo>
                  <a:pt x="43755" y="112071"/>
                  <a:pt x="40031" y="108347"/>
                  <a:pt x="35421" y="108347"/>
                </a:cubicBezTo>
                <a:lnTo>
                  <a:pt x="33832" y="108347"/>
                </a:lnTo>
                <a:lnTo>
                  <a:pt x="39562" y="95845"/>
                </a:lnTo>
                <a:lnTo>
                  <a:pt x="93814" y="95845"/>
                </a:lnTo>
                <a:lnTo>
                  <a:pt x="99544" y="108347"/>
                </a:lnTo>
                <a:lnTo>
                  <a:pt x="97955" y="108347"/>
                </a:lnTo>
                <a:cubicBezTo>
                  <a:pt x="93345" y="108347"/>
                  <a:pt x="89621" y="112071"/>
                  <a:pt x="89621" y="116681"/>
                </a:cubicBezTo>
                <a:cubicBezTo>
                  <a:pt x="89621" y="121291"/>
                  <a:pt x="93345" y="125016"/>
                  <a:pt x="97955" y="125016"/>
                </a:cubicBezTo>
                <a:lnTo>
                  <a:pt x="120874" y="125016"/>
                </a:lnTo>
                <a:cubicBezTo>
                  <a:pt x="125484" y="125016"/>
                  <a:pt x="129209" y="121291"/>
                  <a:pt x="129209" y="116681"/>
                </a:cubicBezTo>
                <a:cubicBezTo>
                  <a:pt x="129209" y="112071"/>
                  <a:pt x="125484" y="108347"/>
                  <a:pt x="120874" y="108347"/>
                </a:cubicBezTo>
                <a:lnTo>
                  <a:pt x="117879" y="108347"/>
                </a:lnTo>
                <a:lnTo>
                  <a:pt x="74280" y="13205"/>
                </a:lnTo>
                <a:close/>
                <a:moveTo>
                  <a:pt x="86157" y="79177"/>
                </a:moveTo>
                <a:lnTo>
                  <a:pt x="47193" y="79177"/>
                </a:lnTo>
                <a:lnTo>
                  <a:pt x="66675" y="36671"/>
                </a:lnTo>
                <a:lnTo>
                  <a:pt x="86157" y="79177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4" name="Text 32"/>
          <p:cNvSpPr/>
          <p:nvPr/>
        </p:nvSpPr>
        <p:spPr>
          <a:xfrm>
            <a:off x="6811328" y="3040261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Состав символов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68440" y="3306961"/>
            <a:ext cx="4943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9D1D9">
                    <a:alpha val="60000"/>
                  </a:srgbClr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Буквы, цифры, спецсимволы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50330" y="3699273"/>
            <a:ext cx="5122545" cy="655320"/>
          </a:xfrm>
          <a:custGeom>
            <a:avLst/>
            <a:gdLst/>
            <a:ahLst/>
            <a:cxnLst/>
            <a:rect l="l" t="t" r="r" b="b"/>
            <a:pathLst>
              <a:path w="5122545" h="655320">
                <a:moveTo>
                  <a:pt x="76201" y="0"/>
                </a:moveTo>
                <a:lnTo>
                  <a:pt x="5046344" y="0"/>
                </a:lnTo>
                <a:cubicBezTo>
                  <a:pt x="5088429" y="0"/>
                  <a:pt x="5122545" y="34116"/>
                  <a:pt x="5122545" y="76201"/>
                </a:cubicBezTo>
                <a:lnTo>
                  <a:pt x="5122545" y="579119"/>
                </a:lnTo>
                <a:cubicBezTo>
                  <a:pt x="5122545" y="621204"/>
                  <a:pt x="5088429" y="655320"/>
                  <a:pt x="5046344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7490" y="384595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8" name="Text 36"/>
          <p:cNvSpPr/>
          <p:nvPr/>
        </p:nvSpPr>
        <p:spPr>
          <a:xfrm>
            <a:off x="6811328" y="3817383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Паттерны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68440" y="4084083"/>
            <a:ext cx="4943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9D1D9">
                    <a:alpha val="60000"/>
                  </a:srgbClr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на распространённые шаблоны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4110" y="5170290"/>
            <a:ext cx="5589270" cy="1303020"/>
          </a:xfrm>
          <a:custGeom>
            <a:avLst/>
            <a:gdLst/>
            <a:ahLst/>
            <a:cxnLst/>
            <a:rect l="l" t="t" r="r" b="b"/>
            <a:pathLst>
              <a:path w="5589270" h="1303020">
                <a:moveTo>
                  <a:pt x="114301" y="0"/>
                </a:moveTo>
                <a:lnTo>
                  <a:pt x="5474969" y="0"/>
                </a:lnTo>
                <a:cubicBezTo>
                  <a:pt x="5538096" y="0"/>
                  <a:pt x="5589270" y="51174"/>
                  <a:pt x="5589270" y="114301"/>
                </a:cubicBezTo>
                <a:lnTo>
                  <a:pt x="5589270" y="1188719"/>
                </a:lnTo>
                <a:cubicBezTo>
                  <a:pt x="5589270" y="1251846"/>
                  <a:pt x="5538096" y="1303020"/>
                  <a:pt x="5474969" y="1303020"/>
                </a:cubicBezTo>
                <a:lnTo>
                  <a:pt x="114301" y="1303020"/>
                </a:lnTo>
                <a:cubicBezTo>
                  <a:pt x="51174" y="1303020"/>
                  <a:pt x="0" y="1251846"/>
                  <a:pt x="0" y="1188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56045" y="54027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2" name="Text 40"/>
          <p:cNvSpPr/>
          <p:nvPr/>
        </p:nvSpPr>
        <p:spPr>
          <a:xfrm>
            <a:off x="6760845" y="536460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Вывод результата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08420" y="574560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9D1D9">
                    <a:alpha val="70000"/>
                  </a:srgbClr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Детальный отчёт с пояснением оценки и конкретными рекомендациями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408420" y="6050400"/>
            <a:ext cx="542925" cy="228600"/>
          </a:xfrm>
          <a:custGeom>
            <a:avLst/>
            <a:gdLst/>
            <a:ahLst/>
            <a:cxnLst/>
            <a:rect l="l" t="t" r="r" b="b"/>
            <a:pathLst>
              <a:path w="542925" h="228600">
                <a:moveTo>
                  <a:pt x="38101" y="0"/>
                </a:moveTo>
                <a:lnTo>
                  <a:pt x="504824" y="0"/>
                </a:lnTo>
                <a:cubicBezTo>
                  <a:pt x="525867" y="0"/>
                  <a:pt x="542925" y="17058"/>
                  <a:pt x="542925" y="38101"/>
                </a:cubicBezTo>
                <a:lnTo>
                  <a:pt x="542925" y="190499"/>
                </a:lnTo>
                <a:cubicBezTo>
                  <a:pt x="542925" y="211542"/>
                  <a:pt x="525867" y="228600"/>
                  <a:pt x="5048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08420" y="6050400"/>
            <a:ext cx="6000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Оценка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023616" y="6050400"/>
            <a:ext cx="895350" cy="228600"/>
          </a:xfrm>
          <a:custGeom>
            <a:avLst/>
            <a:gdLst/>
            <a:ahLst/>
            <a:cxnLst/>
            <a:rect l="l" t="t" r="r" b="b"/>
            <a:pathLst>
              <a:path w="895350" h="228600">
                <a:moveTo>
                  <a:pt x="38101" y="0"/>
                </a:moveTo>
                <a:lnTo>
                  <a:pt x="857249" y="0"/>
                </a:lnTo>
                <a:cubicBezTo>
                  <a:pt x="878292" y="0"/>
                  <a:pt x="895350" y="17058"/>
                  <a:pt x="895350" y="38101"/>
                </a:cubicBezTo>
                <a:lnTo>
                  <a:pt x="895350" y="190499"/>
                </a:lnTo>
                <a:cubicBezTo>
                  <a:pt x="895350" y="211542"/>
                  <a:pt x="878292" y="228600"/>
                  <a:pt x="8572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023616" y="6050400"/>
            <a:ext cx="9525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Статус утечки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998262" y="6050400"/>
            <a:ext cx="923925" cy="228600"/>
          </a:xfrm>
          <a:custGeom>
            <a:avLst/>
            <a:gdLst/>
            <a:ahLst/>
            <a:cxnLst/>
            <a:rect l="l" t="t" r="r" b="b"/>
            <a:pathLst>
              <a:path w="923925" h="228600">
                <a:moveTo>
                  <a:pt x="38101" y="0"/>
                </a:moveTo>
                <a:lnTo>
                  <a:pt x="885824" y="0"/>
                </a:lnTo>
                <a:cubicBezTo>
                  <a:pt x="906867" y="0"/>
                  <a:pt x="923925" y="17058"/>
                  <a:pt x="923925" y="38101"/>
                </a:cubicBezTo>
                <a:lnTo>
                  <a:pt x="923925" y="190499"/>
                </a:lnTo>
                <a:cubicBezTo>
                  <a:pt x="923925" y="211542"/>
                  <a:pt x="906867" y="228600"/>
                  <a:pt x="8858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998262" y="6050400"/>
            <a:ext cx="9810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Рекомендации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0883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81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Технологии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71500"/>
            <a:ext cx="3676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Технологический стек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99210"/>
            <a:ext cx="3646170" cy="5170170"/>
          </a:xfrm>
          <a:custGeom>
            <a:avLst/>
            <a:gdLst/>
            <a:ahLst/>
            <a:cxnLst/>
            <a:rect l="l" t="t" r="r" b="b"/>
            <a:pathLst>
              <a:path w="3646170" h="5170170">
                <a:moveTo>
                  <a:pt x="114307" y="0"/>
                </a:moveTo>
                <a:lnTo>
                  <a:pt x="3531863" y="0"/>
                </a:lnTo>
                <a:cubicBezTo>
                  <a:pt x="3594993" y="0"/>
                  <a:pt x="3646170" y="51177"/>
                  <a:pt x="3646170" y="114307"/>
                </a:cubicBezTo>
                <a:lnTo>
                  <a:pt x="3646170" y="5055863"/>
                </a:lnTo>
                <a:cubicBezTo>
                  <a:pt x="3646170" y="5118993"/>
                  <a:pt x="3594993" y="5170170"/>
                  <a:pt x="3531863" y="5170170"/>
                </a:cubicBezTo>
                <a:lnTo>
                  <a:pt x="114307" y="5170170"/>
                </a:lnTo>
                <a:cubicBezTo>
                  <a:pt x="51177" y="5170170"/>
                  <a:pt x="0" y="5118993"/>
                  <a:pt x="0" y="505586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531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3908" y="16840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1264920" y="164592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030" y="2259330"/>
            <a:ext cx="3179445" cy="960120"/>
          </a:xfrm>
          <a:custGeom>
            <a:avLst/>
            <a:gdLst/>
            <a:ahLst/>
            <a:cxnLst/>
            <a:rect l="l" t="t" r="r" b="b"/>
            <a:pathLst>
              <a:path w="3179445" h="960120">
                <a:moveTo>
                  <a:pt x="76205" y="0"/>
                </a:moveTo>
                <a:lnTo>
                  <a:pt x="3103240" y="0"/>
                </a:lnTo>
                <a:cubicBezTo>
                  <a:pt x="3145327" y="0"/>
                  <a:pt x="3179445" y="34118"/>
                  <a:pt x="3179445" y="76205"/>
                </a:cubicBezTo>
                <a:lnTo>
                  <a:pt x="3179445" y="883915"/>
                </a:lnTo>
                <a:cubicBezTo>
                  <a:pt x="3179445" y="926002"/>
                  <a:pt x="3145327" y="960120"/>
                  <a:pt x="31032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0102" y="249162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1177290" y="2415541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7290" y="2644141"/>
            <a:ext cx="847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Основной язык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872622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Мощный язык для обработки данных и логики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030" y="3379350"/>
            <a:ext cx="3179445" cy="960120"/>
          </a:xfrm>
          <a:custGeom>
            <a:avLst/>
            <a:gdLst/>
            <a:ahLst/>
            <a:cxnLst/>
            <a:rect l="l" t="t" r="r" b="b"/>
            <a:pathLst>
              <a:path w="3179445" h="960120">
                <a:moveTo>
                  <a:pt x="76205" y="0"/>
                </a:moveTo>
                <a:lnTo>
                  <a:pt x="3103240" y="0"/>
                </a:lnTo>
                <a:cubicBezTo>
                  <a:pt x="3145327" y="0"/>
                  <a:pt x="3179445" y="34118"/>
                  <a:pt x="3179445" y="76205"/>
                </a:cubicBezTo>
                <a:lnTo>
                  <a:pt x="3179445" y="883915"/>
                </a:lnTo>
                <a:cubicBezTo>
                  <a:pt x="3179445" y="926002"/>
                  <a:pt x="3145327" y="960120"/>
                  <a:pt x="31032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35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97612" y="3630692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96340" y="3535561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96340" y="3764161"/>
            <a:ext cx="904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Веб-фреймворк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3992642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Высокопроизводительный асинхронный API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030" y="4499373"/>
            <a:ext cx="3179445" cy="960120"/>
          </a:xfrm>
          <a:custGeom>
            <a:avLst/>
            <a:gdLst/>
            <a:ahLst/>
            <a:cxnLst/>
            <a:rect l="l" t="t" r="r" b="b"/>
            <a:pathLst>
              <a:path w="3179445" h="960120">
                <a:moveTo>
                  <a:pt x="76205" y="0"/>
                </a:moveTo>
                <a:lnTo>
                  <a:pt x="3103240" y="0"/>
                </a:lnTo>
                <a:cubicBezTo>
                  <a:pt x="3145327" y="0"/>
                  <a:pt x="3179445" y="34118"/>
                  <a:pt x="3179445" y="76205"/>
                </a:cubicBezTo>
                <a:lnTo>
                  <a:pt x="3179445" y="883915"/>
                </a:lnTo>
                <a:cubicBezTo>
                  <a:pt x="3179445" y="926002"/>
                  <a:pt x="3145327" y="960120"/>
                  <a:pt x="31032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59" y="475071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1129665" y="4655583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29665" y="4884183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База данных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5112662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Лёгкая встраиваемая база для хешей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71010" y="1299210"/>
            <a:ext cx="3646170" cy="5170170"/>
          </a:xfrm>
          <a:custGeom>
            <a:avLst/>
            <a:gdLst/>
            <a:ahLst/>
            <a:cxnLst/>
            <a:rect l="l" t="t" r="r" b="b"/>
            <a:pathLst>
              <a:path w="3646170" h="5170170">
                <a:moveTo>
                  <a:pt x="114307" y="0"/>
                </a:moveTo>
                <a:lnTo>
                  <a:pt x="3531863" y="0"/>
                </a:lnTo>
                <a:cubicBezTo>
                  <a:pt x="3594993" y="0"/>
                  <a:pt x="3646170" y="51177"/>
                  <a:pt x="3646170" y="114307"/>
                </a:cubicBezTo>
                <a:lnTo>
                  <a:pt x="3646170" y="5055863"/>
                </a:lnTo>
                <a:cubicBezTo>
                  <a:pt x="3646170" y="5118993"/>
                  <a:pt x="3594993" y="5170170"/>
                  <a:pt x="3531863" y="5170170"/>
                </a:cubicBezTo>
                <a:lnTo>
                  <a:pt x="114307" y="5170170"/>
                </a:lnTo>
                <a:cubicBezTo>
                  <a:pt x="51177" y="5170170"/>
                  <a:pt x="0" y="5118993"/>
                  <a:pt x="0" y="505586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3420" y="1531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55820" y="16840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9" name="Text 27"/>
          <p:cNvSpPr/>
          <p:nvPr/>
        </p:nvSpPr>
        <p:spPr>
          <a:xfrm>
            <a:off x="5151120" y="1645920"/>
            <a:ext cx="1000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07230" y="2259330"/>
            <a:ext cx="3179445" cy="960120"/>
          </a:xfrm>
          <a:custGeom>
            <a:avLst/>
            <a:gdLst/>
            <a:ahLst/>
            <a:cxnLst/>
            <a:rect l="l" t="t" r="r" b="b"/>
            <a:pathLst>
              <a:path w="3179445" h="960120">
                <a:moveTo>
                  <a:pt x="76205" y="0"/>
                </a:moveTo>
                <a:lnTo>
                  <a:pt x="3103240" y="0"/>
                </a:lnTo>
                <a:cubicBezTo>
                  <a:pt x="3145327" y="0"/>
                  <a:pt x="3179445" y="34118"/>
                  <a:pt x="3179445" y="76205"/>
                </a:cubicBezTo>
                <a:lnTo>
                  <a:pt x="3179445" y="883915"/>
                </a:lnTo>
                <a:cubicBezTo>
                  <a:pt x="3179445" y="926002"/>
                  <a:pt x="3145327" y="960120"/>
                  <a:pt x="31032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20590" y="249162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14288"/>
                </a:moveTo>
                <a:lnTo>
                  <a:pt x="15582" y="191006"/>
                </a:lnTo>
                <a:lnTo>
                  <a:pt x="85502" y="214313"/>
                </a:lnTo>
                <a:lnTo>
                  <a:pt x="155868" y="191006"/>
                </a:lnTo>
                <a:lnTo>
                  <a:pt x="171450" y="14288"/>
                </a:lnTo>
                <a:lnTo>
                  <a:pt x="0" y="14288"/>
                </a:lnTo>
                <a:close/>
                <a:moveTo>
                  <a:pt x="137606" y="71393"/>
                </a:moveTo>
                <a:lnTo>
                  <a:pt x="55543" y="71393"/>
                </a:lnTo>
                <a:lnTo>
                  <a:pt x="57373" y="93449"/>
                </a:lnTo>
                <a:lnTo>
                  <a:pt x="135776" y="93449"/>
                </a:lnTo>
                <a:lnTo>
                  <a:pt x="129704" y="159707"/>
                </a:lnTo>
                <a:lnTo>
                  <a:pt x="85993" y="171763"/>
                </a:lnTo>
                <a:lnTo>
                  <a:pt x="85993" y="171896"/>
                </a:lnTo>
                <a:lnTo>
                  <a:pt x="85502" y="171896"/>
                </a:lnTo>
                <a:lnTo>
                  <a:pt x="41434" y="159707"/>
                </a:lnTo>
                <a:lnTo>
                  <a:pt x="38755" y="125864"/>
                </a:lnTo>
                <a:lnTo>
                  <a:pt x="60052" y="125864"/>
                </a:lnTo>
                <a:lnTo>
                  <a:pt x="61615" y="142875"/>
                </a:lnTo>
                <a:lnTo>
                  <a:pt x="85502" y="149349"/>
                </a:lnTo>
                <a:lnTo>
                  <a:pt x="109478" y="142875"/>
                </a:lnTo>
                <a:lnTo>
                  <a:pt x="112157" y="115104"/>
                </a:lnTo>
                <a:lnTo>
                  <a:pt x="37639" y="115104"/>
                </a:lnTo>
                <a:lnTo>
                  <a:pt x="31924" y="50096"/>
                </a:lnTo>
                <a:lnTo>
                  <a:pt x="139571" y="50096"/>
                </a:lnTo>
                <a:lnTo>
                  <a:pt x="137606" y="71393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2" name="Text 30"/>
          <p:cNvSpPr/>
          <p:nvPr/>
        </p:nvSpPr>
        <p:spPr>
          <a:xfrm>
            <a:off x="5063490" y="2415541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63490" y="2644141"/>
            <a:ext cx="552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Разметка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63440" y="2872622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Семантическая структура страницы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07230" y="3379350"/>
            <a:ext cx="3179445" cy="960120"/>
          </a:xfrm>
          <a:custGeom>
            <a:avLst/>
            <a:gdLst/>
            <a:ahLst/>
            <a:cxnLst/>
            <a:rect l="l" t="t" r="r" b="b"/>
            <a:pathLst>
              <a:path w="3179445" h="960120">
                <a:moveTo>
                  <a:pt x="76205" y="0"/>
                </a:moveTo>
                <a:lnTo>
                  <a:pt x="3103240" y="0"/>
                </a:lnTo>
                <a:cubicBezTo>
                  <a:pt x="3145327" y="0"/>
                  <a:pt x="3179445" y="34118"/>
                  <a:pt x="3179445" y="76205"/>
                </a:cubicBezTo>
                <a:lnTo>
                  <a:pt x="3179445" y="883915"/>
                </a:lnTo>
                <a:cubicBezTo>
                  <a:pt x="3179445" y="926002"/>
                  <a:pt x="3145327" y="960120"/>
                  <a:pt x="31032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0590" y="361164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14288"/>
                </a:moveTo>
                <a:lnTo>
                  <a:pt x="15582" y="191006"/>
                </a:lnTo>
                <a:lnTo>
                  <a:pt x="85725" y="214313"/>
                </a:lnTo>
                <a:lnTo>
                  <a:pt x="155868" y="191006"/>
                </a:lnTo>
                <a:lnTo>
                  <a:pt x="171450" y="14288"/>
                </a:lnTo>
                <a:lnTo>
                  <a:pt x="0" y="14288"/>
                </a:lnTo>
                <a:close/>
                <a:moveTo>
                  <a:pt x="139794" y="50006"/>
                </a:moveTo>
                <a:lnTo>
                  <a:pt x="137651" y="71125"/>
                </a:lnTo>
                <a:lnTo>
                  <a:pt x="86171" y="93137"/>
                </a:lnTo>
                <a:lnTo>
                  <a:pt x="86038" y="93181"/>
                </a:lnTo>
                <a:lnTo>
                  <a:pt x="135821" y="93181"/>
                </a:lnTo>
                <a:lnTo>
                  <a:pt x="130106" y="158636"/>
                </a:lnTo>
                <a:lnTo>
                  <a:pt x="86261" y="171450"/>
                </a:lnTo>
                <a:lnTo>
                  <a:pt x="42148" y="158413"/>
                </a:lnTo>
                <a:lnTo>
                  <a:pt x="39291" y="125417"/>
                </a:lnTo>
                <a:lnTo>
                  <a:pt x="61124" y="125417"/>
                </a:lnTo>
                <a:lnTo>
                  <a:pt x="62552" y="142518"/>
                </a:lnTo>
                <a:lnTo>
                  <a:pt x="86038" y="148456"/>
                </a:lnTo>
                <a:lnTo>
                  <a:pt x="110460" y="141580"/>
                </a:lnTo>
                <a:lnTo>
                  <a:pt x="112112" y="114077"/>
                </a:lnTo>
                <a:lnTo>
                  <a:pt x="37862" y="113854"/>
                </a:lnTo>
                <a:lnTo>
                  <a:pt x="37862" y="113809"/>
                </a:lnTo>
                <a:lnTo>
                  <a:pt x="37773" y="113854"/>
                </a:lnTo>
                <a:lnTo>
                  <a:pt x="36165" y="93181"/>
                </a:lnTo>
                <a:lnTo>
                  <a:pt x="86216" y="72330"/>
                </a:lnTo>
                <a:lnTo>
                  <a:pt x="89118" y="71125"/>
                </a:lnTo>
                <a:lnTo>
                  <a:pt x="34245" y="71125"/>
                </a:lnTo>
                <a:lnTo>
                  <a:pt x="31656" y="50006"/>
                </a:lnTo>
                <a:lnTo>
                  <a:pt x="139794" y="50006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7" name="Text 35"/>
          <p:cNvSpPr/>
          <p:nvPr/>
        </p:nvSpPr>
        <p:spPr>
          <a:xfrm>
            <a:off x="5063490" y="3535561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63490" y="3764161"/>
            <a:ext cx="676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Стилизация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63440" y="3992642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Современный дизайн и адаптивность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07230" y="4499373"/>
            <a:ext cx="3179445" cy="960120"/>
          </a:xfrm>
          <a:custGeom>
            <a:avLst/>
            <a:gdLst/>
            <a:ahLst/>
            <a:cxnLst/>
            <a:rect l="l" t="t" r="r" b="b"/>
            <a:pathLst>
              <a:path w="3179445" h="960120">
                <a:moveTo>
                  <a:pt x="76205" y="0"/>
                </a:moveTo>
                <a:lnTo>
                  <a:pt x="3103240" y="0"/>
                </a:lnTo>
                <a:cubicBezTo>
                  <a:pt x="3145327" y="0"/>
                  <a:pt x="3179445" y="34118"/>
                  <a:pt x="3179445" y="76205"/>
                </a:cubicBezTo>
                <a:lnTo>
                  <a:pt x="3179445" y="883915"/>
                </a:lnTo>
                <a:cubicBezTo>
                  <a:pt x="3179445" y="926002"/>
                  <a:pt x="3145327" y="960120"/>
                  <a:pt x="31032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6303" y="473166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14288"/>
                </a:moveTo>
                <a:lnTo>
                  <a:pt x="0" y="214313"/>
                </a:lnTo>
                <a:lnTo>
                  <a:pt x="200025" y="214313"/>
                </a:lnTo>
                <a:lnTo>
                  <a:pt x="200025" y="14288"/>
                </a:lnTo>
                <a:lnTo>
                  <a:pt x="0" y="14288"/>
                </a:lnTo>
                <a:close/>
                <a:moveTo>
                  <a:pt x="108853" y="170289"/>
                </a:moveTo>
                <a:cubicBezTo>
                  <a:pt x="108853" y="189756"/>
                  <a:pt x="97423" y="198641"/>
                  <a:pt x="80769" y="198641"/>
                </a:cubicBezTo>
                <a:cubicBezTo>
                  <a:pt x="65723" y="198641"/>
                  <a:pt x="57016" y="190872"/>
                  <a:pt x="52551" y="181451"/>
                </a:cubicBezTo>
                <a:lnTo>
                  <a:pt x="67866" y="172209"/>
                </a:lnTo>
                <a:cubicBezTo>
                  <a:pt x="70812" y="177433"/>
                  <a:pt x="73491" y="181853"/>
                  <a:pt x="79965" y="181853"/>
                </a:cubicBezTo>
                <a:cubicBezTo>
                  <a:pt x="86127" y="181853"/>
                  <a:pt x="90056" y="179442"/>
                  <a:pt x="90056" y="170021"/>
                </a:cubicBezTo>
                <a:lnTo>
                  <a:pt x="90056" y="106129"/>
                </a:lnTo>
                <a:lnTo>
                  <a:pt x="108853" y="106129"/>
                </a:lnTo>
                <a:lnTo>
                  <a:pt x="108853" y="170289"/>
                </a:lnTo>
                <a:close/>
                <a:moveTo>
                  <a:pt x="153323" y="198641"/>
                </a:moveTo>
                <a:cubicBezTo>
                  <a:pt x="135865" y="198641"/>
                  <a:pt x="124569" y="190336"/>
                  <a:pt x="119077" y="179442"/>
                </a:cubicBezTo>
                <a:lnTo>
                  <a:pt x="134392" y="170602"/>
                </a:lnTo>
                <a:cubicBezTo>
                  <a:pt x="138410" y="177165"/>
                  <a:pt x="143679" y="182032"/>
                  <a:pt x="152921" y="182032"/>
                </a:cubicBezTo>
                <a:cubicBezTo>
                  <a:pt x="160690" y="182032"/>
                  <a:pt x="165690" y="178147"/>
                  <a:pt x="165690" y="172745"/>
                </a:cubicBezTo>
                <a:cubicBezTo>
                  <a:pt x="165690" y="166315"/>
                  <a:pt x="160600" y="164038"/>
                  <a:pt x="151983" y="160243"/>
                </a:cubicBezTo>
                <a:lnTo>
                  <a:pt x="147295" y="158234"/>
                </a:lnTo>
                <a:cubicBezTo>
                  <a:pt x="133722" y="152474"/>
                  <a:pt x="124748" y="145197"/>
                  <a:pt x="124748" y="129882"/>
                </a:cubicBezTo>
                <a:cubicBezTo>
                  <a:pt x="124748" y="115773"/>
                  <a:pt x="135508" y="105058"/>
                  <a:pt x="152251" y="105058"/>
                </a:cubicBezTo>
                <a:cubicBezTo>
                  <a:pt x="164217" y="105058"/>
                  <a:pt x="172789" y="109210"/>
                  <a:pt x="178951" y="120104"/>
                </a:cubicBezTo>
                <a:lnTo>
                  <a:pt x="164306" y="129480"/>
                </a:lnTo>
                <a:cubicBezTo>
                  <a:pt x="161092" y="123721"/>
                  <a:pt x="157609" y="121444"/>
                  <a:pt x="152207" y="121444"/>
                </a:cubicBezTo>
                <a:cubicBezTo>
                  <a:pt x="146715" y="121444"/>
                  <a:pt x="143232" y="124926"/>
                  <a:pt x="143232" y="129480"/>
                </a:cubicBezTo>
                <a:cubicBezTo>
                  <a:pt x="143232" y="135106"/>
                  <a:pt x="146715" y="137383"/>
                  <a:pt x="154796" y="140910"/>
                </a:cubicBezTo>
                <a:lnTo>
                  <a:pt x="159484" y="142920"/>
                </a:lnTo>
                <a:cubicBezTo>
                  <a:pt x="175468" y="149751"/>
                  <a:pt x="184443" y="156761"/>
                  <a:pt x="184443" y="172477"/>
                </a:cubicBezTo>
                <a:cubicBezTo>
                  <a:pt x="184443" y="189354"/>
                  <a:pt x="171137" y="198641"/>
                  <a:pt x="153323" y="198641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2" name="Text 40"/>
          <p:cNvSpPr/>
          <p:nvPr/>
        </p:nvSpPr>
        <p:spPr>
          <a:xfrm>
            <a:off x="5063490" y="4655583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063490" y="4884183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Логика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663440" y="5112662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Взаимодействие с API без фреймворков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57210" y="1299210"/>
            <a:ext cx="3646170" cy="5170170"/>
          </a:xfrm>
          <a:custGeom>
            <a:avLst/>
            <a:gdLst/>
            <a:ahLst/>
            <a:cxnLst/>
            <a:rect l="l" t="t" r="r" b="b"/>
            <a:pathLst>
              <a:path w="3646170" h="5170170">
                <a:moveTo>
                  <a:pt x="114307" y="0"/>
                </a:moveTo>
                <a:lnTo>
                  <a:pt x="3531863" y="0"/>
                </a:lnTo>
                <a:cubicBezTo>
                  <a:pt x="3594993" y="0"/>
                  <a:pt x="3646170" y="51177"/>
                  <a:pt x="3646170" y="114307"/>
                </a:cubicBezTo>
                <a:lnTo>
                  <a:pt x="3646170" y="5055863"/>
                </a:lnTo>
                <a:cubicBezTo>
                  <a:pt x="3646170" y="5118993"/>
                  <a:pt x="3594993" y="5170170"/>
                  <a:pt x="3531863" y="5170170"/>
                </a:cubicBezTo>
                <a:lnTo>
                  <a:pt x="114307" y="5170170"/>
                </a:lnTo>
                <a:cubicBezTo>
                  <a:pt x="51177" y="5170170"/>
                  <a:pt x="0" y="5118993"/>
                  <a:pt x="0" y="505586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F0883E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89620" y="1531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0883E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42020" y="16840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2966" y="4197"/>
                </a:moveTo>
                <a:cubicBezTo>
                  <a:pt x="147384" y="-1384"/>
                  <a:pt x="138321" y="-1384"/>
                  <a:pt x="132740" y="4197"/>
                </a:cubicBezTo>
                <a:cubicBezTo>
                  <a:pt x="127159" y="9778"/>
                  <a:pt x="127159" y="18842"/>
                  <a:pt x="132740" y="24423"/>
                </a:cubicBezTo>
                <a:lnTo>
                  <a:pt x="136937" y="28575"/>
                </a:lnTo>
                <a:lnTo>
                  <a:pt x="12546" y="152966"/>
                </a:lnTo>
                <a:cubicBezTo>
                  <a:pt x="4509" y="161002"/>
                  <a:pt x="0" y="171896"/>
                  <a:pt x="0" y="183282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45318" y="228600"/>
                </a:lnTo>
                <a:cubicBezTo>
                  <a:pt x="56704" y="228600"/>
                  <a:pt x="67598" y="224091"/>
                  <a:pt x="75634" y="216054"/>
                </a:cubicBezTo>
                <a:lnTo>
                  <a:pt x="200025" y="91663"/>
                </a:lnTo>
                <a:lnTo>
                  <a:pt x="204222" y="95860"/>
                </a:lnTo>
                <a:cubicBezTo>
                  <a:pt x="209803" y="101441"/>
                  <a:pt x="218867" y="101441"/>
                  <a:pt x="224448" y="95860"/>
                </a:cubicBezTo>
                <a:cubicBezTo>
                  <a:pt x="230029" y="90279"/>
                  <a:pt x="230029" y="81216"/>
                  <a:pt x="224448" y="75634"/>
                </a:cubicBezTo>
                <a:lnTo>
                  <a:pt x="153010" y="4197"/>
                </a:lnTo>
                <a:close/>
                <a:moveTo>
                  <a:pt x="91663" y="114300"/>
                </a:moveTo>
                <a:lnTo>
                  <a:pt x="157163" y="48801"/>
                </a:lnTo>
                <a:lnTo>
                  <a:pt x="179799" y="71438"/>
                </a:lnTo>
                <a:lnTo>
                  <a:pt x="136937" y="114300"/>
                </a:lnTo>
                <a:lnTo>
                  <a:pt x="91619" y="114300"/>
                </a:ln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51" name="Text 49"/>
          <p:cNvSpPr/>
          <p:nvPr/>
        </p:nvSpPr>
        <p:spPr>
          <a:xfrm>
            <a:off x="9037320" y="164592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Тестирование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93430" y="2259330"/>
            <a:ext cx="3179445" cy="960120"/>
          </a:xfrm>
          <a:custGeom>
            <a:avLst/>
            <a:gdLst/>
            <a:ahLst/>
            <a:cxnLst/>
            <a:rect l="l" t="t" r="r" b="b"/>
            <a:pathLst>
              <a:path w="3179445" h="960120">
                <a:moveTo>
                  <a:pt x="76205" y="0"/>
                </a:moveTo>
                <a:lnTo>
                  <a:pt x="3103240" y="0"/>
                </a:lnTo>
                <a:cubicBezTo>
                  <a:pt x="3145327" y="0"/>
                  <a:pt x="3179445" y="34118"/>
                  <a:pt x="3179445" y="76205"/>
                </a:cubicBezTo>
                <a:lnTo>
                  <a:pt x="3179445" y="883915"/>
                </a:lnTo>
                <a:cubicBezTo>
                  <a:pt x="3179445" y="926002"/>
                  <a:pt x="3145327" y="960120"/>
                  <a:pt x="31032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92503" y="249162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54" name="Text 52"/>
          <p:cNvSpPr/>
          <p:nvPr/>
        </p:nvSpPr>
        <p:spPr>
          <a:xfrm>
            <a:off x="8949690" y="2415541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949690" y="2644141"/>
            <a:ext cx="695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Язык тестов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49640" y="2872622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Тот же язык для консистентности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93430" y="3379350"/>
            <a:ext cx="3179445" cy="960120"/>
          </a:xfrm>
          <a:custGeom>
            <a:avLst/>
            <a:gdLst/>
            <a:ahLst/>
            <a:cxnLst/>
            <a:rect l="l" t="t" r="r" b="b"/>
            <a:pathLst>
              <a:path w="3179445" h="960120">
                <a:moveTo>
                  <a:pt x="76205" y="0"/>
                </a:moveTo>
                <a:lnTo>
                  <a:pt x="3103240" y="0"/>
                </a:lnTo>
                <a:cubicBezTo>
                  <a:pt x="3145327" y="0"/>
                  <a:pt x="3179445" y="34118"/>
                  <a:pt x="3179445" y="76205"/>
                </a:cubicBezTo>
                <a:lnTo>
                  <a:pt x="3179445" y="883915"/>
                </a:lnTo>
                <a:cubicBezTo>
                  <a:pt x="3179445" y="926002"/>
                  <a:pt x="3145327" y="960120"/>
                  <a:pt x="31032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49640" y="35735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883E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642032" y="3649742"/>
            <a:ext cx="180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968740" y="353556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pytest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968740" y="3764161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Фреймворк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549640" y="3992642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Мощный инструмент для unit-тестов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417004" y="554545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64" name="Text 62"/>
          <p:cNvSpPr/>
          <p:nvPr/>
        </p:nvSpPr>
        <p:spPr>
          <a:xfrm>
            <a:off x="8632507" y="551688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Unit-тесты API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417004" y="581215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66" name="Text 64"/>
          <p:cNvSpPr/>
          <p:nvPr/>
        </p:nvSpPr>
        <p:spPr>
          <a:xfrm>
            <a:off x="8632507" y="5783580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Тесты логики проверки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417004" y="607885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68" name="Text 66"/>
          <p:cNvSpPr/>
          <p:nvPr/>
        </p:nvSpPr>
        <p:spPr>
          <a:xfrm>
            <a:off x="8632507" y="6050280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Интеграционные тесты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84810" y="2301360"/>
            <a:ext cx="11418570" cy="2750820"/>
          </a:xfrm>
          <a:custGeom>
            <a:avLst/>
            <a:gdLst/>
            <a:ahLst/>
            <a:cxnLst/>
            <a:rect l="l" t="t" r="r" b="b"/>
            <a:pathLst>
              <a:path w="11418570" h="2750820">
                <a:moveTo>
                  <a:pt x="114297" y="0"/>
                </a:moveTo>
                <a:lnTo>
                  <a:pt x="11304273" y="0"/>
                </a:lnTo>
                <a:cubicBezTo>
                  <a:pt x="11367398" y="0"/>
                  <a:pt x="11418570" y="51172"/>
                  <a:pt x="11418570" y="114297"/>
                </a:cubicBezTo>
                <a:lnTo>
                  <a:pt x="11418570" y="2636523"/>
                </a:lnTo>
                <a:cubicBezTo>
                  <a:pt x="11418570" y="2699648"/>
                  <a:pt x="11367398" y="2750820"/>
                  <a:pt x="11304273" y="2750820"/>
                </a:cubicBezTo>
                <a:lnTo>
                  <a:pt x="114297" y="2750820"/>
                </a:lnTo>
                <a:cubicBezTo>
                  <a:pt x="51172" y="2750820"/>
                  <a:pt x="0" y="2699648"/>
                  <a:pt x="0" y="263652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C9D1D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5" name="Shape 28">
            <a:extLst>
              <a:ext uri="{FF2B5EF4-FFF2-40B4-BE49-F238E27FC236}">
                <a16:creationId xmlns:a16="http://schemas.microsoft.com/office/drawing/2014/main" id="{48815F12-DDA6-0ACB-6506-4EA64027F267}"/>
              </a:ext>
            </a:extLst>
          </p:cNvPr>
          <p:cNvSpPr/>
          <p:nvPr/>
        </p:nvSpPr>
        <p:spPr>
          <a:xfrm>
            <a:off x="9206064" y="2560320"/>
            <a:ext cx="2387377" cy="1815646"/>
          </a:xfrm>
          <a:custGeom>
            <a:avLst/>
            <a:gdLst/>
            <a:ahLst/>
            <a:cxnLst/>
            <a:rect l="l" t="t" r="r" b="b"/>
            <a:pathLst>
              <a:path w="3179445" h="960120">
                <a:moveTo>
                  <a:pt x="76205" y="0"/>
                </a:moveTo>
                <a:lnTo>
                  <a:pt x="3103240" y="0"/>
                </a:lnTo>
                <a:cubicBezTo>
                  <a:pt x="3145327" y="0"/>
                  <a:pt x="3179445" y="34118"/>
                  <a:pt x="3179445" y="76205"/>
                </a:cubicBezTo>
                <a:lnTo>
                  <a:pt x="3179445" y="883915"/>
                </a:lnTo>
                <a:cubicBezTo>
                  <a:pt x="3179445" y="926002"/>
                  <a:pt x="3145327" y="960120"/>
                  <a:pt x="31032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C9D1D9">
                <a:alpha val="10196"/>
              </a:srgbClr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381000" y="47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81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Структура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71500"/>
            <a:ext cx="3629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системы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81566" y="3074670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5" h="901065">
                <a:moveTo>
                  <a:pt x="114300" y="0"/>
                </a:moveTo>
                <a:lnTo>
                  <a:pt x="786765" y="0"/>
                </a:lnTo>
                <a:cubicBezTo>
                  <a:pt x="849891" y="0"/>
                  <a:pt x="901065" y="51174"/>
                  <a:pt x="901065" y="114300"/>
                </a:cubicBezTo>
                <a:lnTo>
                  <a:pt x="901065" y="786765"/>
                </a:lnTo>
                <a:cubicBezTo>
                  <a:pt x="901065" y="849891"/>
                  <a:pt x="849891" y="901065"/>
                  <a:pt x="786765" y="901065"/>
                </a:cubicBezTo>
                <a:lnTo>
                  <a:pt x="114300" y="901065"/>
                </a:lnTo>
                <a:cubicBezTo>
                  <a:pt x="51174" y="901065"/>
                  <a:pt x="0" y="849891"/>
                  <a:pt x="0" y="78676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2032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8512" y="32861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14201"/>
                  <a:pt x="196565" y="169664"/>
                  <a:pt x="141591" y="169664"/>
                </a:cubicBezTo>
                <a:lnTo>
                  <a:pt x="108440" y="169664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916608" y="3609975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71684" y="409575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28185" y="3694837"/>
            <a:ext cx="45719" cy="77063"/>
          </a:xfrm>
          <a:custGeom>
            <a:avLst/>
            <a:gdLst/>
            <a:ahLst/>
            <a:cxnLst/>
            <a:rect l="l" t="t" r="r" b="b"/>
            <a:pathLst>
              <a:path h="19050">
                <a:moveTo>
                  <a:pt x="0" y="0"/>
                </a:moveTo>
                <a:lnTo>
                  <a:pt x="0" y="0"/>
                </a:lnTo>
                <a:lnTo>
                  <a:pt x="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F0883E"/>
              </a:gs>
            </a:gsLst>
            <a:lin ang="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2723436" y="3222073"/>
            <a:ext cx="681156" cy="616502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2687776" y="3802261"/>
            <a:ext cx="752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Request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1169" y="3074670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5" h="901065">
                <a:moveTo>
                  <a:pt x="114300" y="0"/>
                </a:moveTo>
                <a:lnTo>
                  <a:pt x="786765" y="0"/>
                </a:lnTo>
                <a:cubicBezTo>
                  <a:pt x="849891" y="0"/>
                  <a:pt x="901065" y="51174"/>
                  <a:pt x="901065" y="114300"/>
                </a:cubicBezTo>
                <a:lnTo>
                  <a:pt x="901065" y="786765"/>
                </a:lnTo>
                <a:cubicBezTo>
                  <a:pt x="901065" y="849891"/>
                  <a:pt x="849891" y="901065"/>
                  <a:pt x="786765" y="901065"/>
                </a:cubicBezTo>
                <a:lnTo>
                  <a:pt x="114300" y="901065"/>
                </a:lnTo>
                <a:cubicBezTo>
                  <a:pt x="51174" y="901065"/>
                  <a:pt x="0" y="849891"/>
                  <a:pt x="0" y="78676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0883E">
              <a:alpha val="20000"/>
            </a:srgbClr>
          </a:solidFill>
          <a:ln w="20320">
            <a:solidFill>
              <a:srgbClr val="F088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5728" y="32861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16" name="Text 14"/>
          <p:cNvSpPr/>
          <p:nvPr/>
        </p:nvSpPr>
        <p:spPr>
          <a:xfrm>
            <a:off x="4021215" y="3609975"/>
            <a:ext cx="171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4025" y="409575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HTML/CSS/JS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68954" y="3667009"/>
            <a:ext cx="0" cy="19050"/>
          </a:xfrm>
          <a:custGeom>
            <a:avLst/>
            <a:gdLst/>
            <a:ahLst/>
            <a:cxnLst/>
            <a:rect l="l" t="t" r="r" b="b"/>
            <a:pathLst>
              <a:path h="19050">
                <a:moveTo>
                  <a:pt x="0" y="0"/>
                </a:moveTo>
                <a:lnTo>
                  <a:pt x="0" y="0"/>
                </a:lnTo>
                <a:lnTo>
                  <a:pt x="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0883E"/>
              </a:gs>
              <a:gs pos="100000">
                <a:srgbClr val="3FB950"/>
              </a:gs>
            </a:gsLst>
            <a:lin ang="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4685811" y="3119784"/>
            <a:ext cx="722022" cy="656531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4894422" y="3802261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AJAX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05119" y="3074670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5" h="901065">
                <a:moveTo>
                  <a:pt x="114300" y="0"/>
                </a:moveTo>
                <a:lnTo>
                  <a:pt x="786765" y="0"/>
                </a:lnTo>
                <a:cubicBezTo>
                  <a:pt x="849891" y="0"/>
                  <a:pt x="901065" y="51174"/>
                  <a:pt x="901065" y="114300"/>
                </a:cubicBezTo>
                <a:lnTo>
                  <a:pt x="901065" y="786765"/>
                </a:lnTo>
                <a:cubicBezTo>
                  <a:pt x="901065" y="849891"/>
                  <a:pt x="849891" y="901065"/>
                  <a:pt x="786765" y="901065"/>
                </a:cubicBezTo>
                <a:lnTo>
                  <a:pt x="114300" y="901065"/>
                </a:lnTo>
                <a:cubicBezTo>
                  <a:pt x="51174" y="901065"/>
                  <a:pt x="0" y="849891"/>
                  <a:pt x="0" y="78676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20320">
            <a:solidFill>
              <a:srgbClr val="3FB9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2064" y="32861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6072070" y="3609975"/>
            <a:ext cx="21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09549" y="4095750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rot="19936630">
            <a:off x="6808351" y="2826188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7" name="Shape 25"/>
          <p:cNvSpPr/>
          <p:nvPr/>
        </p:nvSpPr>
        <p:spPr>
          <a:xfrm rot="1386814">
            <a:off x="6801185" y="3802260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29" name="Shape 27"/>
          <p:cNvSpPr/>
          <p:nvPr/>
        </p:nvSpPr>
        <p:spPr>
          <a:xfrm>
            <a:off x="8144709" y="2537460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20320">
            <a:solidFill>
              <a:srgbClr val="58A6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75214" y="270129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1" name="Text 29"/>
          <p:cNvSpPr/>
          <p:nvPr/>
        </p:nvSpPr>
        <p:spPr>
          <a:xfrm>
            <a:off x="8387715" y="2967990"/>
            <a:ext cx="314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43625" y="336804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Логика проверки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53044" y="3983536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114299" y="0"/>
                </a:moveTo>
                <a:lnTo>
                  <a:pt x="634366" y="0"/>
                </a:lnTo>
                <a:cubicBezTo>
                  <a:pt x="697449" y="0"/>
                  <a:pt x="748665" y="51216"/>
                  <a:pt x="748665" y="114299"/>
                </a:cubicBezTo>
                <a:lnTo>
                  <a:pt x="748665" y="634366"/>
                </a:lnTo>
                <a:cubicBezTo>
                  <a:pt x="748665" y="697492"/>
                  <a:pt x="697492" y="748665"/>
                  <a:pt x="634366" y="748665"/>
                </a:cubicBezTo>
                <a:lnTo>
                  <a:pt x="114299" y="748665"/>
                </a:lnTo>
                <a:cubicBezTo>
                  <a:pt x="51216" y="748665"/>
                  <a:pt x="0" y="697449"/>
                  <a:pt x="0" y="63436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85149">
              <a:alpha val="20000"/>
            </a:srgbClr>
          </a:solidFill>
          <a:ln w="20320">
            <a:solidFill>
              <a:srgbClr val="F851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26411" y="414736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35" name="Text 33"/>
          <p:cNvSpPr/>
          <p:nvPr/>
        </p:nvSpPr>
        <p:spPr>
          <a:xfrm>
            <a:off x="8454153" y="4414066"/>
            <a:ext cx="200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851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86143" y="4814116"/>
            <a:ext cx="676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 хеши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491540" y="28093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8" name="Text 36"/>
          <p:cNvSpPr/>
          <p:nvPr/>
        </p:nvSpPr>
        <p:spPr>
          <a:xfrm>
            <a:off x="9682040" y="2771220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Клиент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423800" y="28093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40" name="Text 38"/>
          <p:cNvSpPr/>
          <p:nvPr/>
        </p:nvSpPr>
        <p:spPr>
          <a:xfrm>
            <a:off x="10614300" y="2771220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Интерфейс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553736" y="39027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2" name="Text 40"/>
          <p:cNvSpPr/>
          <p:nvPr/>
        </p:nvSpPr>
        <p:spPr>
          <a:xfrm>
            <a:off x="9744236" y="3864660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Сервер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423800" y="390328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44" name="Text 42"/>
          <p:cNvSpPr/>
          <p:nvPr/>
        </p:nvSpPr>
        <p:spPr>
          <a:xfrm>
            <a:off x="10614300" y="3865181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Хранилище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0883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81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5285" y="0"/>
                </a:moveTo>
                <a:cubicBezTo>
                  <a:pt x="141714" y="0"/>
                  <a:pt x="147876" y="2545"/>
                  <a:pt x="152396" y="7099"/>
                </a:cubicBezTo>
                <a:lnTo>
                  <a:pt x="164351" y="19054"/>
                </a:lnTo>
                <a:cubicBezTo>
                  <a:pt x="168905" y="23574"/>
                  <a:pt x="171450" y="29736"/>
                  <a:pt x="171450" y="36165"/>
                </a:cubicBezTo>
                <a:cubicBezTo>
                  <a:pt x="171450" y="42595"/>
                  <a:pt x="168905" y="48756"/>
                  <a:pt x="164351" y="53277"/>
                </a:cubicBezTo>
                <a:lnTo>
                  <a:pt x="149316" y="68312"/>
                </a:lnTo>
                <a:lnTo>
                  <a:pt x="103138" y="22134"/>
                </a:lnTo>
                <a:lnTo>
                  <a:pt x="118173" y="7099"/>
                </a:lnTo>
                <a:cubicBezTo>
                  <a:pt x="122694" y="2545"/>
                  <a:pt x="128855" y="0"/>
                  <a:pt x="135285" y="0"/>
                </a:cubicBezTo>
                <a:close/>
                <a:moveTo>
                  <a:pt x="19723" y="105515"/>
                </a:moveTo>
                <a:lnTo>
                  <a:pt x="91786" y="33486"/>
                </a:lnTo>
                <a:lnTo>
                  <a:pt x="137964" y="79664"/>
                </a:lnTo>
                <a:lnTo>
                  <a:pt x="65935" y="151727"/>
                </a:lnTo>
                <a:cubicBezTo>
                  <a:pt x="62352" y="155310"/>
                  <a:pt x="57864" y="157922"/>
                  <a:pt x="52975" y="159294"/>
                </a:cubicBezTo>
                <a:lnTo>
                  <a:pt x="10180" y="171149"/>
                </a:lnTo>
                <a:cubicBezTo>
                  <a:pt x="7400" y="171919"/>
                  <a:pt x="4387" y="171149"/>
                  <a:pt x="2344" y="169072"/>
                </a:cubicBezTo>
                <a:cubicBezTo>
                  <a:pt x="301" y="166996"/>
                  <a:pt x="-502" y="164016"/>
                  <a:pt x="268" y="161237"/>
                </a:cubicBezTo>
                <a:lnTo>
                  <a:pt x="12189" y="118475"/>
                </a:lnTo>
                <a:cubicBezTo>
                  <a:pt x="13562" y="113586"/>
                  <a:pt x="16140" y="109132"/>
                  <a:pt x="19757" y="105515"/>
                </a:cubicBezTo>
                <a:close/>
                <a:moveTo>
                  <a:pt x="75478" y="27057"/>
                </a:moveTo>
                <a:lnTo>
                  <a:pt x="27057" y="75478"/>
                </a:lnTo>
                <a:lnTo>
                  <a:pt x="3918" y="52339"/>
                </a:lnTo>
                <a:cubicBezTo>
                  <a:pt x="-1306" y="47115"/>
                  <a:pt x="-1306" y="38643"/>
                  <a:pt x="3918" y="33386"/>
                </a:cubicBezTo>
                <a:lnTo>
                  <a:pt x="33386" y="3918"/>
                </a:lnTo>
                <a:cubicBezTo>
                  <a:pt x="38610" y="-1306"/>
                  <a:pt x="47082" y="-1306"/>
                  <a:pt x="52339" y="3918"/>
                </a:cubicBezTo>
                <a:lnTo>
                  <a:pt x="54315" y="5894"/>
                </a:lnTo>
                <a:lnTo>
                  <a:pt x="35462" y="24746"/>
                </a:lnTo>
                <a:cubicBezTo>
                  <a:pt x="32850" y="27358"/>
                  <a:pt x="32850" y="31611"/>
                  <a:pt x="35462" y="34223"/>
                </a:cubicBezTo>
                <a:cubicBezTo>
                  <a:pt x="38074" y="36835"/>
                  <a:pt x="42327" y="36835"/>
                  <a:pt x="44939" y="34223"/>
                </a:cubicBezTo>
                <a:lnTo>
                  <a:pt x="63791" y="15370"/>
                </a:lnTo>
                <a:lnTo>
                  <a:pt x="75478" y="27057"/>
                </a:lnTo>
                <a:close/>
                <a:moveTo>
                  <a:pt x="144393" y="95972"/>
                </a:moveTo>
                <a:lnTo>
                  <a:pt x="156080" y="107659"/>
                </a:lnTo>
                <a:lnTo>
                  <a:pt x="137227" y="126511"/>
                </a:lnTo>
                <a:cubicBezTo>
                  <a:pt x="134615" y="129123"/>
                  <a:pt x="134615" y="133376"/>
                  <a:pt x="137227" y="135988"/>
                </a:cubicBezTo>
                <a:cubicBezTo>
                  <a:pt x="139839" y="138600"/>
                  <a:pt x="144092" y="138600"/>
                  <a:pt x="146704" y="135988"/>
                </a:cubicBezTo>
                <a:lnTo>
                  <a:pt x="165556" y="117135"/>
                </a:lnTo>
                <a:lnTo>
                  <a:pt x="167532" y="119111"/>
                </a:lnTo>
                <a:cubicBezTo>
                  <a:pt x="172756" y="124335"/>
                  <a:pt x="172756" y="132807"/>
                  <a:pt x="167532" y="138064"/>
                </a:cubicBezTo>
                <a:lnTo>
                  <a:pt x="138064" y="167532"/>
                </a:lnTo>
                <a:cubicBezTo>
                  <a:pt x="132840" y="172756"/>
                  <a:pt x="124368" y="172756"/>
                  <a:pt x="119111" y="167532"/>
                </a:cubicBezTo>
                <a:lnTo>
                  <a:pt x="95972" y="144393"/>
                </a:lnTo>
                <a:lnTo>
                  <a:pt x="144393" y="95972"/>
                </a:ln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Дизайн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71500"/>
            <a:ext cx="3733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Wireframe интерфейса</a:t>
            </a:r>
            <a:endParaRPr lang="en-US" sz="1600" dirty="0"/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587A1AE1-8C00-2E66-2137-ACA6D465142F}"/>
              </a:ext>
            </a:extLst>
          </p:cNvPr>
          <p:cNvSpPr/>
          <p:nvPr/>
        </p:nvSpPr>
        <p:spPr>
          <a:xfrm>
            <a:off x="332773" y="1147612"/>
            <a:ext cx="11526453" cy="5350243"/>
          </a:xfrm>
          <a:custGeom>
            <a:avLst/>
            <a:gdLst/>
            <a:ahLst/>
            <a:cxnLst/>
            <a:rect l="l" t="t" r="r" b="b"/>
            <a:pathLst>
              <a:path w="5589270" h="3789045">
                <a:moveTo>
                  <a:pt x="114315" y="0"/>
                </a:moveTo>
                <a:lnTo>
                  <a:pt x="5474955" y="0"/>
                </a:lnTo>
                <a:cubicBezTo>
                  <a:pt x="5538089" y="0"/>
                  <a:pt x="5589270" y="51181"/>
                  <a:pt x="5589270" y="114315"/>
                </a:cubicBezTo>
                <a:lnTo>
                  <a:pt x="5589270" y="3674730"/>
                </a:lnTo>
                <a:cubicBezTo>
                  <a:pt x="5589270" y="3737864"/>
                  <a:pt x="5538089" y="3789045"/>
                  <a:pt x="5474955" y="3789045"/>
                </a:cubicBezTo>
                <a:lnTo>
                  <a:pt x="114315" y="3789045"/>
                </a:lnTo>
                <a:cubicBezTo>
                  <a:pt x="51181" y="3789045"/>
                  <a:pt x="0" y="3737864"/>
                  <a:pt x="0" y="3674730"/>
                </a:cubicBezTo>
                <a:lnTo>
                  <a:pt x="0" y="114315"/>
                </a:lnTo>
                <a:cubicBezTo>
                  <a:pt x="0" y="51181"/>
                  <a:pt x="51181" y="0"/>
                  <a:pt x="114315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16F7271B-4A88-CC38-1931-01F26DA1FD51}"/>
              </a:ext>
            </a:extLst>
          </p:cNvPr>
          <p:cNvSpPr/>
          <p:nvPr/>
        </p:nvSpPr>
        <p:spPr>
          <a:xfrm>
            <a:off x="565184" y="138002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382A6FFC-5F71-325E-F486-B96426B16ECC}"/>
              </a:ext>
            </a:extLst>
          </p:cNvPr>
          <p:cNvSpPr/>
          <p:nvPr/>
        </p:nvSpPr>
        <p:spPr>
          <a:xfrm>
            <a:off x="698534" y="151337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32742" y="47625"/>
                </a:moveTo>
                <a:lnTo>
                  <a:pt x="157758" y="47625"/>
                </a:lnTo>
                <a:cubicBezTo>
                  <a:pt x="162706" y="47625"/>
                  <a:pt x="166688" y="51606"/>
                  <a:pt x="166688" y="56555"/>
                </a:cubicBezTo>
                <a:cubicBezTo>
                  <a:pt x="166688" y="61503"/>
                  <a:pt x="162706" y="65484"/>
                  <a:pt x="157758" y="65484"/>
                </a:cubicBezTo>
                <a:lnTo>
                  <a:pt x="32742" y="65484"/>
                </a:lnTo>
                <a:cubicBezTo>
                  <a:pt x="27794" y="65484"/>
                  <a:pt x="23812" y="61503"/>
                  <a:pt x="23812" y="56555"/>
                </a:cubicBezTo>
                <a:cubicBezTo>
                  <a:pt x="23812" y="51606"/>
                  <a:pt x="27794" y="47625"/>
                  <a:pt x="32742" y="47625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4F228AAA-A527-BA54-94E6-9FEBD0341E45}"/>
              </a:ext>
            </a:extLst>
          </p:cNvPr>
          <p:cNvSpPr/>
          <p:nvPr/>
        </p:nvSpPr>
        <p:spPr>
          <a:xfrm>
            <a:off x="1136684" y="1475272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Один экран</a:t>
            </a:r>
            <a:endParaRPr lang="en-US" sz="1600" dirty="0"/>
          </a:p>
        </p:txBody>
      </p: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D76DF856-684D-1542-0C85-A3E5ED069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634" y="1380022"/>
            <a:ext cx="4884830" cy="21821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6A940EEE-37C1-1FEA-A2A6-9BF95C337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84" y="2069632"/>
            <a:ext cx="5869379" cy="3429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1322AD2A-BC26-DAB0-BCB6-EACE362EB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3634" y="3685072"/>
            <a:ext cx="4884830" cy="21821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769ff6198f1d55d8fce2d057e8e4acc285a7ca3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1117">
                  <a:alpha val="95000"/>
                </a:srgbClr>
              </a:gs>
              <a:gs pos="50000">
                <a:srgbClr val="0D1117">
                  <a:alpha val="85000"/>
                </a:srgbClr>
              </a:gs>
              <a:gs pos="100000">
                <a:srgbClr val="0D1117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7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88156" y="581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6" name="Text 3"/>
          <p:cNvSpPr/>
          <p:nvPr/>
        </p:nvSpPr>
        <p:spPr>
          <a:xfrm>
            <a:off x="876300" y="381000"/>
            <a:ext cx="396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Приоритет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6300" y="571500"/>
            <a:ext cx="4067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Принципы безопасности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0668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C9D1D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Безопасность пользовательских данных — наш главный приоритет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810" y="1565910"/>
            <a:ext cx="5589270" cy="1893570"/>
          </a:xfrm>
          <a:custGeom>
            <a:avLst/>
            <a:gdLst/>
            <a:ahLst/>
            <a:cxnLst/>
            <a:rect l="l" t="t" r="r" b="b"/>
            <a:pathLst>
              <a:path w="5589270" h="189357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1779274"/>
                </a:lnTo>
                <a:cubicBezTo>
                  <a:pt x="5589270" y="1842398"/>
                  <a:pt x="5538098" y="1893570"/>
                  <a:pt x="54749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7220" y="17983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22008" y="19888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2" name="Text 9"/>
          <p:cNvSpPr/>
          <p:nvPr/>
        </p:nvSpPr>
        <p:spPr>
          <a:xfrm>
            <a:off x="1379220" y="1798323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Пароль НЕ сохраняется в БД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9220" y="2141223"/>
            <a:ext cx="443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Мы никогда не сохраняем введённые пароли ни в какой форме. Проверка происходит в оперативной памяти.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398270" y="277939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5" name="Text 12"/>
          <p:cNvSpPr/>
          <p:nvPr/>
        </p:nvSpPr>
        <p:spPr>
          <a:xfrm>
            <a:off x="1622108" y="2750823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Только временное хранение в RAM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14110" y="1565910"/>
            <a:ext cx="5589270" cy="1893570"/>
          </a:xfrm>
          <a:custGeom>
            <a:avLst/>
            <a:gdLst/>
            <a:ahLst/>
            <a:cxnLst/>
            <a:rect l="l" t="t" r="r" b="b"/>
            <a:pathLst>
              <a:path w="5589270" h="189357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1779274"/>
                </a:lnTo>
                <a:cubicBezTo>
                  <a:pt x="5589270" y="1842398"/>
                  <a:pt x="5538098" y="1893570"/>
                  <a:pt x="54749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46520" y="17983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665595" y="198882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9" name="Text 16"/>
          <p:cNvSpPr/>
          <p:nvPr/>
        </p:nvSpPr>
        <p:spPr>
          <a:xfrm>
            <a:off x="7208520" y="1798323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Пароль НЕ пишется в логи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208520" y="2141223"/>
            <a:ext cx="443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Все системные логи полностью исключают пароли и их хеши. Нет никакой истории запросов.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227570" y="277939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2" name="Text 19"/>
          <p:cNvSpPr/>
          <p:nvPr/>
        </p:nvSpPr>
        <p:spPr>
          <a:xfrm>
            <a:off x="7451407" y="275082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Логирование без чувствительных данных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4810" y="3691892"/>
            <a:ext cx="5589270" cy="1893570"/>
          </a:xfrm>
          <a:custGeom>
            <a:avLst/>
            <a:gdLst/>
            <a:ahLst/>
            <a:cxnLst/>
            <a:rect l="l" t="t" r="r" b="b"/>
            <a:pathLst>
              <a:path w="5589270" h="189357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1779274"/>
                </a:lnTo>
                <a:cubicBezTo>
                  <a:pt x="5589270" y="1842398"/>
                  <a:pt x="5538098" y="1893570"/>
                  <a:pt x="54749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7220" y="3924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07720" y="4114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6" name="Text 23"/>
          <p:cNvSpPr/>
          <p:nvPr/>
        </p:nvSpPr>
        <p:spPr>
          <a:xfrm>
            <a:off x="1379220" y="39243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НЕ возвращает пароль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79220" y="4267200"/>
            <a:ext cx="443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 ответе API присутствует только оценка и рекомендации. Исходный пароль никогда не возвращается.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398270" y="4905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9" name="Text 26"/>
          <p:cNvSpPr/>
          <p:nvPr/>
        </p:nvSpPr>
        <p:spPr>
          <a:xfrm>
            <a:off x="1622108" y="48768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Только метаданные в ответе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214110" y="3691892"/>
            <a:ext cx="5589270" cy="1893570"/>
          </a:xfrm>
          <a:custGeom>
            <a:avLst/>
            <a:gdLst/>
            <a:ahLst/>
            <a:cxnLst/>
            <a:rect l="l" t="t" r="r" b="b"/>
            <a:pathLst>
              <a:path w="5589270" h="1893570">
                <a:moveTo>
                  <a:pt x="114296" y="0"/>
                </a:moveTo>
                <a:lnTo>
                  <a:pt x="5474974" y="0"/>
                </a:lnTo>
                <a:cubicBezTo>
                  <a:pt x="5538098" y="0"/>
                  <a:pt x="5589270" y="51172"/>
                  <a:pt x="5589270" y="114296"/>
                </a:cubicBezTo>
                <a:lnTo>
                  <a:pt x="5589270" y="1779274"/>
                </a:lnTo>
                <a:cubicBezTo>
                  <a:pt x="5589270" y="1842398"/>
                  <a:pt x="5538098" y="1893570"/>
                  <a:pt x="5474974" y="1893570"/>
                </a:cubicBezTo>
                <a:lnTo>
                  <a:pt x="114296" y="1893570"/>
                </a:lnTo>
                <a:cubicBezTo>
                  <a:pt x="51172" y="1893570"/>
                  <a:pt x="0" y="1842398"/>
                  <a:pt x="0" y="177927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1262D"/>
          </a:solidFill>
          <a:ln w="10160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46520" y="3924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622732" y="4114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39494" y="-11743"/>
                </a:moveTo>
                <a:cubicBezTo>
                  <a:pt x="243870" y="-13305"/>
                  <a:pt x="248692" y="-12189"/>
                  <a:pt x="251996" y="-8930"/>
                </a:cubicBezTo>
                <a:cubicBezTo>
                  <a:pt x="255300" y="-5670"/>
                  <a:pt x="256371" y="-804"/>
                  <a:pt x="254809" y="3572"/>
                </a:cubicBezTo>
                <a:lnTo>
                  <a:pt x="175334" y="225430"/>
                </a:lnTo>
                <a:cubicBezTo>
                  <a:pt x="173102" y="231636"/>
                  <a:pt x="167253" y="235744"/>
                  <a:pt x="160690" y="235744"/>
                </a:cubicBezTo>
                <a:cubicBezTo>
                  <a:pt x="154350" y="235744"/>
                  <a:pt x="148635" y="231904"/>
                  <a:pt x="146268" y="226055"/>
                </a:cubicBezTo>
                <a:lnTo>
                  <a:pt x="117604" y="155511"/>
                </a:lnTo>
                <a:cubicBezTo>
                  <a:pt x="115595" y="150599"/>
                  <a:pt x="116488" y="144973"/>
                  <a:pt x="119926" y="140955"/>
                </a:cubicBezTo>
                <a:lnTo>
                  <a:pt x="162118" y="90770"/>
                </a:lnTo>
                <a:cubicBezTo>
                  <a:pt x="164396" y="88047"/>
                  <a:pt x="164217" y="84073"/>
                  <a:pt x="161717" y="81573"/>
                </a:cubicBezTo>
                <a:cubicBezTo>
                  <a:pt x="159216" y="79072"/>
                  <a:pt x="155198" y="78894"/>
                  <a:pt x="152519" y="81171"/>
                </a:cubicBezTo>
                <a:lnTo>
                  <a:pt x="102334" y="123274"/>
                </a:lnTo>
                <a:cubicBezTo>
                  <a:pt x="98271" y="126668"/>
                  <a:pt x="92690" y="127561"/>
                  <a:pt x="87779" y="125596"/>
                </a:cubicBezTo>
                <a:lnTo>
                  <a:pt x="17011" y="96798"/>
                </a:lnTo>
                <a:cubicBezTo>
                  <a:pt x="11162" y="94431"/>
                  <a:pt x="7322" y="88716"/>
                  <a:pt x="7322" y="82376"/>
                </a:cubicBezTo>
                <a:cubicBezTo>
                  <a:pt x="7322" y="75813"/>
                  <a:pt x="11430" y="69964"/>
                  <a:pt x="17636" y="67732"/>
                </a:cubicBezTo>
                <a:lnTo>
                  <a:pt x="239494" y="-11743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33" name="Text 30"/>
          <p:cNvSpPr/>
          <p:nvPr/>
        </p:nvSpPr>
        <p:spPr>
          <a:xfrm>
            <a:off x="7208520" y="39243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Только POST-запросы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08520" y="4267200"/>
            <a:ext cx="4438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Используем только POST-метод для передачи паролей. Никаких GET-параметров в URL.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227570" y="4905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36" name="Text 33"/>
          <p:cNvSpPr/>
          <p:nvPr/>
        </p:nvSpPr>
        <p:spPr>
          <a:xfrm>
            <a:off x="7451407" y="48768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Пароль в теле запроса, не в URL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504</Words>
  <Application>Microsoft Office PowerPoint</Application>
  <PresentationFormat>Широкоэкранный</PresentationFormat>
  <Paragraphs>152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Liter</vt:lpstr>
      <vt:lpstr>Arial</vt:lpstr>
      <vt:lpstr>Quattrocento Sans</vt:lpstr>
      <vt:lpstr>Calibri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Сервис проверки стойкости паролей</dc:title>
  <dc:subject>Сервис проверки стойкости паролей</dc:subject>
  <dc:creator>Kimi</dc:creator>
  <cp:lastModifiedBy>Кирилл Ошев</cp:lastModifiedBy>
  <cp:revision>2</cp:revision>
  <dcterms:created xsi:type="dcterms:W3CDTF">2026-03-31T16:42:31Z</dcterms:created>
  <dcterms:modified xsi:type="dcterms:W3CDTF">2026-03-31T16:59:50Z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{"Label":"Сервис проверки стойкости паролей","ContentProducer":"001191110108MACG2KBH8F10000","ProduceID":"19d44c43-6302-80af-8000-0000299e174c","ReservedCode1":"","ContentPropagator":"001191110108MACG2KBH8F20000","PropagateID":"19d44c43-6302-80af-8000-0000299e174c","ReservedCode2":""}</vt:lpwstr>
  </property>
</Properties>
</file>